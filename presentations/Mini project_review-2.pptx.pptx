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Verdana" charset="1" panose="020B0604030504040204"/>
      <p:regular r:id="rId20"/>
    </p:embeddedFont>
    <p:embeddedFont>
      <p:font typeface="Arial MT Pro" charset="1" panose="020B0502020202020204"/>
      <p:regular r:id="rId21"/>
    </p:embeddedFont>
    <p:embeddedFont>
      <p:font typeface="Arial" charset="1" panose="020B0604020202020204"/>
      <p:regular r:id="rId22"/>
    </p:embeddedFont>
    <p:embeddedFont>
      <p:font typeface="Times New Roman Italics" charset="1" panose="02020503050405090304"/>
      <p:regular r:id="rId23"/>
    </p:embeddedFont>
    <p:embeddedFont>
      <p:font typeface="Cambria" charset="1" panose="02040503050406030204"/>
      <p:regular r:id="rId24"/>
    </p:embeddedFont>
    <p:embeddedFont>
      <p:font typeface="Arial Bold" charset="1" panose="020B0704020202020204"/>
      <p:regular r:id="rId25"/>
    </p:embeddedFont>
    <p:embeddedFont>
      <p:font typeface="Cambria Bold" charset="1" panose="02040803050406030204"/>
      <p:regular r:id="rId26"/>
    </p:embeddedFont>
    <p:embeddedFont>
      <p:font typeface="Times New Roman Bold" charset="1" panose="02020803070505020304"/>
      <p:regular r:id="rId27"/>
    </p:embeddedFont>
    <p:embeddedFont>
      <p:font typeface="Times New Roman" charset="1" panose="020206030504050203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https://github.com/inchara-k-r/AI-Assistant-for-Multi-Channel-"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https://doi.org/10.1109/ACCESS.2025.3641669" TargetMode="External" Type="http://schemas.openxmlformats.org/officeDocument/2006/relationships/hyperlink"/><Relationship Id="rId3" Target="https://doi.org/10.1109/ISC257844.2023.10293572" TargetMode="External" Type="http://schemas.openxmlformats.org/officeDocument/2006/relationships/hyperlink"/><Relationship Id="rId4" Target="https://doi.org/10.1109/ACCESS.2020.3004541"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9.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86912"/>
            <a:ext cx="18288000" cy="700088"/>
            <a:chOff x="0" y="0"/>
            <a:chExt cx="24384000" cy="933450"/>
          </a:xfrm>
        </p:grpSpPr>
        <p:sp>
          <p:nvSpPr>
            <p:cNvPr name="Freeform 3" id="3"/>
            <p:cNvSpPr/>
            <p:nvPr/>
          </p:nvSpPr>
          <p:spPr>
            <a:xfrm flipH="false" flipV="false" rot="0">
              <a:off x="0" y="0"/>
              <a:ext cx="24384000" cy="933450"/>
            </a:xfrm>
            <a:custGeom>
              <a:avLst/>
              <a:gdLst/>
              <a:ahLst/>
              <a:cxnLst/>
              <a:rect r="r" b="b" t="t" l="l"/>
              <a:pathLst>
                <a:path h="933450" w="24384000">
                  <a:moveTo>
                    <a:pt x="0" y="0"/>
                  </a:moveTo>
                  <a:lnTo>
                    <a:pt x="24384000" y="0"/>
                  </a:lnTo>
                  <a:lnTo>
                    <a:pt x="24384000" y="933450"/>
                  </a:lnTo>
                  <a:lnTo>
                    <a:pt x="0" y="93345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5" r="0" b="-5"/>
              </a:stretch>
            </a:blipFill>
          </p:spPr>
        </p:sp>
      </p:grpSp>
      <p:grpSp>
        <p:nvGrpSpPr>
          <p:cNvPr name="Group 6" id="6"/>
          <p:cNvGrpSpPr/>
          <p:nvPr/>
        </p:nvGrpSpPr>
        <p:grpSpPr>
          <a:xfrm rot="0">
            <a:off x="0" y="0"/>
            <a:ext cx="18288000" cy="10287762"/>
            <a:chOff x="0" y="0"/>
            <a:chExt cx="24384000" cy="13717016"/>
          </a:xfrm>
        </p:grpSpPr>
        <p:sp>
          <p:nvSpPr>
            <p:cNvPr name="Freeform 7" id="7"/>
            <p:cNvSpPr/>
            <p:nvPr/>
          </p:nvSpPr>
          <p:spPr>
            <a:xfrm flipH="false" flipV="false" rot="0">
              <a:off x="0" y="0"/>
              <a:ext cx="24384000" cy="13715940"/>
            </a:xfrm>
            <a:custGeom>
              <a:avLst/>
              <a:gdLst/>
              <a:ahLst/>
              <a:cxnLst/>
              <a:rect r="r" b="b" t="t" l="l"/>
              <a:pathLst>
                <a:path h="13715940" w="24384000">
                  <a:moveTo>
                    <a:pt x="24384000" y="0"/>
                  </a:moveTo>
                  <a:lnTo>
                    <a:pt x="0" y="0"/>
                  </a:lnTo>
                  <a:lnTo>
                    <a:pt x="0" y="13715940"/>
                  </a:lnTo>
                  <a:lnTo>
                    <a:pt x="24384000" y="13715940"/>
                  </a:lnTo>
                  <a:lnTo>
                    <a:pt x="24384000" y="0"/>
                  </a:lnTo>
                  <a:close/>
                </a:path>
              </a:pathLst>
            </a:custGeom>
            <a:solidFill>
              <a:srgbClr val="002F5E">
                <a:alpha val="56078"/>
              </a:srgbClr>
            </a:solidFill>
          </p:spPr>
        </p:sp>
      </p:grpSp>
      <p:sp>
        <p:nvSpPr>
          <p:cNvPr name="TextBox 8" id="8"/>
          <p:cNvSpPr txBox="true"/>
          <p:nvPr/>
        </p:nvSpPr>
        <p:spPr>
          <a:xfrm rot="0">
            <a:off x="17106376" y="727043"/>
            <a:ext cx="183833" cy="299723"/>
          </a:xfrm>
          <a:prstGeom prst="rect">
            <a:avLst/>
          </a:prstGeom>
        </p:spPr>
        <p:txBody>
          <a:bodyPr anchor="t" rtlCol="false" tIns="0" lIns="0" bIns="0" rIns="0">
            <a:spAutoFit/>
          </a:bodyPr>
          <a:lstStyle/>
          <a:p>
            <a:pPr algn="l">
              <a:lnSpc>
                <a:spcPts val="2160"/>
              </a:lnSpc>
            </a:pPr>
            <a:r>
              <a:rPr lang="en-US" sz="1800" spc="-75">
                <a:solidFill>
                  <a:srgbClr val="888888"/>
                </a:solidFill>
                <a:latin typeface="Verdana"/>
                <a:ea typeface="Verdana"/>
                <a:cs typeface="Verdana"/>
                <a:sym typeface="Verdana"/>
              </a:rPr>
              <a:t>1</a:t>
            </a:r>
          </a:p>
        </p:txBody>
      </p:sp>
      <p:sp>
        <p:nvSpPr>
          <p:cNvPr name="TextBox 9" id="9"/>
          <p:cNvSpPr txBox="true"/>
          <p:nvPr/>
        </p:nvSpPr>
        <p:spPr>
          <a:xfrm rot="0">
            <a:off x="2558606" y="5641838"/>
            <a:ext cx="12746355" cy="549278"/>
          </a:xfrm>
          <a:prstGeom prst="rect">
            <a:avLst/>
          </a:prstGeom>
        </p:spPr>
        <p:txBody>
          <a:bodyPr anchor="t" rtlCol="false" tIns="0" lIns="0" bIns="0" rIns="0">
            <a:spAutoFit/>
          </a:bodyPr>
          <a:lstStyle/>
          <a:p>
            <a:pPr algn="l">
              <a:lnSpc>
                <a:spcPts val="3600"/>
              </a:lnSpc>
            </a:pPr>
            <a:r>
              <a:rPr lang="en-US" sz="3000" spc="390">
                <a:solidFill>
                  <a:srgbClr val="FFFFFF"/>
                </a:solidFill>
                <a:latin typeface="Arial MT Pro"/>
                <a:ea typeface="Arial MT Pro"/>
                <a:cs typeface="Arial MT Pro"/>
                <a:sym typeface="Arial MT Pro"/>
              </a:rPr>
              <a:t>School  of  Artificial  Intelligence  and  Advanced  Computing </a:t>
            </a:r>
          </a:p>
        </p:txBody>
      </p:sp>
      <p:grpSp>
        <p:nvGrpSpPr>
          <p:cNvPr name="Group 10" id="10"/>
          <p:cNvGrpSpPr/>
          <p:nvPr/>
        </p:nvGrpSpPr>
        <p:grpSpPr>
          <a:xfrm rot="0">
            <a:off x="914400" y="570357"/>
            <a:ext cx="68580" cy="459105"/>
            <a:chOff x="0" y="0"/>
            <a:chExt cx="91440" cy="612140"/>
          </a:xfrm>
        </p:grpSpPr>
        <p:sp>
          <p:nvSpPr>
            <p:cNvPr name="Freeform 11" id="11"/>
            <p:cNvSpPr/>
            <p:nvPr/>
          </p:nvSpPr>
          <p:spPr>
            <a:xfrm flipH="false" flipV="false" rot="0">
              <a:off x="0" y="0"/>
              <a:ext cx="91440" cy="611124"/>
            </a:xfrm>
            <a:custGeom>
              <a:avLst/>
              <a:gdLst/>
              <a:ahLst/>
              <a:cxnLst/>
              <a:rect r="r" b="b" t="t" l="l"/>
              <a:pathLst>
                <a:path h="611124" w="91440">
                  <a:moveTo>
                    <a:pt x="91440" y="0"/>
                  </a:moveTo>
                  <a:lnTo>
                    <a:pt x="0" y="0"/>
                  </a:lnTo>
                  <a:lnTo>
                    <a:pt x="0" y="611124"/>
                  </a:lnTo>
                  <a:lnTo>
                    <a:pt x="91440" y="611124"/>
                  </a:lnTo>
                  <a:lnTo>
                    <a:pt x="91440" y="0"/>
                  </a:lnTo>
                  <a:close/>
                </a:path>
              </a:pathLst>
            </a:custGeom>
            <a:solidFill>
              <a:srgbClr val="F39000"/>
            </a:solidFill>
          </p:spPr>
        </p:sp>
      </p:grpSp>
      <p:grpSp>
        <p:nvGrpSpPr>
          <p:cNvPr name="Group 12" id="12"/>
          <p:cNvGrpSpPr/>
          <p:nvPr/>
        </p:nvGrpSpPr>
        <p:grpSpPr>
          <a:xfrm rot="0">
            <a:off x="1104424" y="570357"/>
            <a:ext cx="2067516" cy="448113"/>
            <a:chOff x="0" y="0"/>
            <a:chExt cx="2756687" cy="597484"/>
          </a:xfrm>
        </p:grpSpPr>
        <p:sp>
          <p:nvSpPr>
            <p:cNvPr name="Freeform 13" id="13"/>
            <p:cNvSpPr/>
            <p:nvPr/>
          </p:nvSpPr>
          <p:spPr>
            <a:xfrm flipH="false" flipV="false" rot="0">
              <a:off x="0" y="0"/>
              <a:ext cx="2756662" cy="597535"/>
            </a:xfrm>
            <a:custGeom>
              <a:avLst/>
              <a:gdLst/>
              <a:ahLst/>
              <a:cxnLst/>
              <a:rect r="r" b="b" t="t" l="l"/>
              <a:pathLst>
                <a:path h="597535" w="2756662">
                  <a:moveTo>
                    <a:pt x="0" y="0"/>
                  </a:moveTo>
                  <a:lnTo>
                    <a:pt x="2756662" y="0"/>
                  </a:lnTo>
                  <a:lnTo>
                    <a:pt x="2756662" y="597535"/>
                  </a:lnTo>
                  <a:lnTo>
                    <a:pt x="0" y="597535"/>
                  </a:lnTo>
                  <a:lnTo>
                    <a:pt x="0" y="0"/>
                  </a:lnTo>
                  <a:close/>
                </a:path>
              </a:pathLst>
            </a:custGeom>
            <a:blipFill>
              <a:blip r:embed="rId4"/>
              <a:stretch>
                <a:fillRect l="0" t="-180" r="0" b="-172"/>
              </a:stretch>
            </a:blipFill>
          </p:spPr>
        </p:sp>
      </p:grpSp>
      <p:grpSp>
        <p:nvGrpSpPr>
          <p:cNvPr name="Group 14" id="14"/>
          <p:cNvGrpSpPr/>
          <p:nvPr/>
        </p:nvGrpSpPr>
        <p:grpSpPr>
          <a:xfrm rot="0">
            <a:off x="0" y="9661150"/>
            <a:ext cx="18288000" cy="625840"/>
            <a:chOff x="0" y="0"/>
            <a:chExt cx="24384000" cy="834454"/>
          </a:xfrm>
        </p:grpSpPr>
        <p:sp>
          <p:nvSpPr>
            <p:cNvPr name="Freeform 15" id="15"/>
            <p:cNvSpPr/>
            <p:nvPr/>
          </p:nvSpPr>
          <p:spPr>
            <a:xfrm flipH="false" flipV="false" rot="0">
              <a:off x="0" y="0"/>
              <a:ext cx="24384000" cy="834517"/>
            </a:xfrm>
            <a:custGeom>
              <a:avLst/>
              <a:gdLst/>
              <a:ahLst/>
              <a:cxnLst/>
              <a:rect r="r" b="b" t="t" l="l"/>
              <a:pathLst>
                <a:path h="834517" w="24384000">
                  <a:moveTo>
                    <a:pt x="0" y="0"/>
                  </a:moveTo>
                  <a:lnTo>
                    <a:pt x="24384000" y="0"/>
                  </a:lnTo>
                  <a:lnTo>
                    <a:pt x="24384000" y="834517"/>
                  </a:lnTo>
                  <a:lnTo>
                    <a:pt x="0" y="834517"/>
                  </a:lnTo>
                  <a:lnTo>
                    <a:pt x="0" y="0"/>
                  </a:lnTo>
                  <a:close/>
                </a:path>
              </a:pathLst>
            </a:custGeom>
            <a:blipFill>
              <a:blip r:embed="rId5"/>
              <a:stretch>
                <a:fillRect l="-156" t="0" r="-156" b="7"/>
              </a:stretch>
            </a:blipFill>
          </p:spPr>
        </p:sp>
      </p:grpSp>
      <p:sp>
        <p:nvSpPr>
          <p:cNvPr name="TextBox 16" id="16"/>
          <p:cNvSpPr txBox="true"/>
          <p:nvPr/>
        </p:nvSpPr>
        <p:spPr>
          <a:xfrm rot="0">
            <a:off x="914400" y="3665880"/>
            <a:ext cx="16905387" cy="1333500"/>
          </a:xfrm>
          <a:prstGeom prst="rect">
            <a:avLst/>
          </a:prstGeom>
        </p:spPr>
        <p:txBody>
          <a:bodyPr anchor="t" rtlCol="false" tIns="0" lIns="0" bIns="0" rIns="0">
            <a:spAutoFit/>
          </a:bodyPr>
          <a:lstStyle/>
          <a:p>
            <a:pPr algn="l">
              <a:lnSpc>
                <a:spcPts val="10298"/>
              </a:lnSpc>
            </a:pPr>
            <a:r>
              <a:rPr lang="en-US" sz="8582" spc="1115">
                <a:solidFill>
                  <a:srgbClr val="FFFFFF"/>
                </a:solidFill>
                <a:latin typeface="Arial"/>
                <a:ea typeface="Arial"/>
                <a:cs typeface="Arial"/>
                <a:sym typeface="Arial"/>
              </a:rPr>
              <a:t>PRESIDENCY UNIVERSITY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004735"/>
            <a:ext cx="18288000" cy="1282265"/>
            <a:chOff x="0" y="0"/>
            <a:chExt cx="24384000" cy="1709687"/>
          </a:xfrm>
        </p:grpSpPr>
        <p:sp>
          <p:nvSpPr>
            <p:cNvPr name="Freeform 3" id="3"/>
            <p:cNvSpPr/>
            <p:nvPr/>
          </p:nvSpPr>
          <p:spPr>
            <a:xfrm flipH="false" flipV="false" rot="0">
              <a:off x="0" y="0"/>
              <a:ext cx="24384000" cy="1709674"/>
            </a:xfrm>
            <a:custGeom>
              <a:avLst/>
              <a:gdLst/>
              <a:ahLst/>
              <a:cxnLst/>
              <a:rect r="r" b="b" t="t" l="l"/>
              <a:pathLst>
                <a:path h="1709674" w="24384000">
                  <a:moveTo>
                    <a:pt x="0" y="0"/>
                  </a:moveTo>
                  <a:lnTo>
                    <a:pt x="24384000" y="0"/>
                  </a:lnTo>
                  <a:lnTo>
                    <a:pt x="24384000" y="1709674"/>
                  </a:lnTo>
                  <a:lnTo>
                    <a:pt x="0" y="1709674"/>
                  </a:lnTo>
                  <a:lnTo>
                    <a:pt x="0" y="0"/>
                  </a:lnTo>
                  <a:close/>
                </a:path>
              </a:pathLst>
            </a:custGeom>
            <a:blipFill>
              <a:blip r:embed="rId2"/>
              <a:stretch>
                <a:fillRect l="0" t="-61304" r="0" b="-61305"/>
              </a:stretch>
            </a:blipFill>
          </p:spPr>
        </p:sp>
      </p:grpSp>
      <p:sp>
        <p:nvSpPr>
          <p:cNvPr name="TextBox 4" id="4"/>
          <p:cNvSpPr txBox="true"/>
          <p:nvPr/>
        </p:nvSpPr>
        <p:spPr>
          <a:xfrm rot="0">
            <a:off x="1565939" y="1689668"/>
            <a:ext cx="14785657" cy="1171575"/>
          </a:xfrm>
          <a:prstGeom prst="rect">
            <a:avLst/>
          </a:prstGeom>
        </p:spPr>
        <p:txBody>
          <a:bodyPr anchor="t" rtlCol="false" tIns="0" lIns="0" bIns="0" rIns="0">
            <a:spAutoFit/>
          </a:bodyPr>
          <a:lstStyle/>
          <a:p>
            <a:pPr algn="ctr">
              <a:lnSpc>
                <a:spcPts val="4500"/>
              </a:lnSpc>
            </a:pPr>
            <a:r>
              <a:rPr lang="en-US" sz="3750" i="true">
                <a:solidFill>
                  <a:srgbClr val="000000"/>
                </a:solidFill>
                <a:latin typeface="Times New Roman Italics"/>
                <a:ea typeface="Times New Roman Italics"/>
                <a:cs typeface="Times New Roman Italics"/>
                <a:sym typeface="Times New Roman Italics"/>
              </a:rPr>
              <a:t>CIVIC-VOICE An AI .Assistant for Multi-Channel Citizen Feedback Analysis in Public Services</a:t>
            </a:r>
          </a:p>
        </p:txBody>
      </p:sp>
      <p:sp>
        <p:nvSpPr>
          <p:cNvPr name="TextBox 5" id="5"/>
          <p:cNvSpPr txBox="true"/>
          <p:nvPr/>
        </p:nvSpPr>
        <p:spPr>
          <a:xfrm rot="0">
            <a:off x="1565939" y="3755527"/>
            <a:ext cx="3691890" cy="501653"/>
          </a:xfrm>
          <a:prstGeom prst="rect">
            <a:avLst/>
          </a:prstGeom>
        </p:spPr>
        <p:txBody>
          <a:bodyPr anchor="t" rtlCol="false" tIns="0" lIns="0" bIns="0" rIns="0">
            <a:spAutoFit/>
          </a:bodyPr>
          <a:lstStyle/>
          <a:p>
            <a:pPr algn="l">
              <a:lnSpc>
                <a:spcPts val="3600"/>
              </a:lnSpc>
            </a:pPr>
            <a:r>
              <a:rPr lang="en-US" sz="3000">
                <a:solidFill>
                  <a:srgbClr val="17365D"/>
                </a:solidFill>
                <a:latin typeface="Cambria"/>
                <a:ea typeface="Cambria"/>
                <a:cs typeface="Cambria"/>
                <a:sym typeface="Cambria"/>
              </a:rPr>
              <a:t>Batch Number: CAI-21</a:t>
            </a:r>
          </a:p>
        </p:txBody>
      </p:sp>
      <p:sp>
        <p:nvSpPr>
          <p:cNvPr name="TextBox 6" id="6"/>
          <p:cNvSpPr txBox="true"/>
          <p:nvPr/>
        </p:nvSpPr>
        <p:spPr>
          <a:xfrm rot="0">
            <a:off x="1670152" y="4586154"/>
            <a:ext cx="3732674" cy="1596390"/>
          </a:xfrm>
          <a:prstGeom prst="rect">
            <a:avLst/>
          </a:prstGeom>
        </p:spPr>
        <p:txBody>
          <a:bodyPr anchor="t" rtlCol="false" tIns="0" lIns="0" bIns="0" rIns="0">
            <a:spAutoFit/>
          </a:bodyPr>
          <a:lstStyle/>
          <a:p>
            <a:pPr algn="l">
              <a:lnSpc>
                <a:spcPts val="3779"/>
              </a:lnSpc>
            </a:pPr>
            <a:r>
              <a:rPr lang="en-US" b="true" sz="2700" spc="-15">
                <a:solidFill>
                  <a:srgbClr val="17365D"/>
                </a:solidFill>
                <a:latin typeface="Arial Bold"/>
                <a:ea typeface="Arial Bold"/>
                <a:cs typeface="Arial Bold"/>
                <a:sym typeface="Arial Bold"/>
              </a:rPr>
              <a:t>Roll Number</a:t>
            </a:r>
          </a:p>
          <a:p>
            <a:pPr algn="l">
              <a:lnSpc>
                <a:spcPts val="2940"/>
              </a:lnSpc>
            </a:pPr>
            <a:r>
              <a:rPr lang="en-US" sz="2100" spc="-15">
                <a:solidFill>
                  <a:srgbClr val="17365D"/>
                </a:solidFill>
                <a:latin typeface="Arial MT Pro"/>
                <a:ea typeface="Arial MT Pro"/>
                <a:cs typeface="Arial MT Pro"/>
                <a:sym typeface="Arial MT Pro"/>
              </a:rPr>
              <a:t>20231CAI0117</a:t>
            </a:r>
          </a:p>
          <a:p>
            <a:pPr algn="l">
              <a:lnSpc>
                <a:spcPts val="2940"/>
              </a:lnSpc>
            </a:pPr>
            <a:r>
              <a:rPr lang="en-US" sz="2100" spc="-15">
                <a:solidFill>
                  <a:srgbClr val="17365D"/>
                </a:solidFill>
                <a:latin typeface="Arial MT Pro"/>
                <a:ea typeface="Arial MT Pro"/>
                <a:cs typeface="Arial MT Pro"/>
                <a:sym typeface="Arial MT Pro"/>
              </a:rPr>
              <a:t>20231CAI0120</a:t>
            </a:r>
          </a:p>
          <a:p>
            <a:pPr algn="l">
              <a:lnSpc>
                <a:spcPts val="2940"/>
              </a:lnSpc>
            </a:pPr>
            <a:r>
              <a:rPr lang="en-US" sz="2100" spc="-15">
                <a:solidFill>
                  <a:srgbClr val="17365D"/>
                </a:solidFill>
                <a:latin typeface="Arial MT Pro"/>
                <a:ea typeface="Arial MT Pro"/>
                <a:cs typeface="Arial MT Pro"/>
                <a:sym typeface="Arial MT Pro"/>
              </a:rPr>
              <a:t>20231CAI0115</a:t>
            </a:r>
          </a:p>
        </p:txBody>
      </p:sp>
      <p:sp>
        <p:nvSpPr>
          <p:cNvPr name="TextBox 7" id="7"/>
          <p:cNvSpPr txBox="true"/>
          <p:nvPr/>
        </p:nvSpPr>
        <p:spPr>
          <a:xfrm rot="0">
            <a:off x="5624960" y="4633779"/>
            <a:ext cx="3519040" cy="1587741"/>
          </a:xfrm>
          <a:prstGeom prst="rect">
            <a:avLst/>
          </a:prstGeom>
        </p:spPr>
        <p:txBody>
          <a:bodyPr anchor="t" rtlCol="false" tIns="0" lIns="0" bIns="0" rIns="0">
            <a:spAutoFit/>
          </a:bodyPr>
          <a:lstStyle/>
          <a:p>
            <a:pPr algn="l">
              <a:lnSpc>
                <a:spcPts val="3240"/>
              </a:lnSpc>
            </a:pPr>
            <a:r>
              <a:rPr lang="en-US" sz="2700" b="true">
                <a:solidFill>
                  <a:srgbClr val="17365D"/>
                </a:solidFill>
                <a:latin typeface="Arial Bold"/>
                <a:ea typeface="Arial Bold"/>
                <a:cs typeface="Arial Bold"/>
                <a:sym typeface="Arial Bold"/>
              </a:rPr>
              <a:t>Student Name</a:t>
            </a:r>
          </a:p>
          <a:p>
            <a:pPr algn="l">
              <a:lnSpc>
                <a:spcPts val="2520"/>
              </a:lnSpc>
            </a:pPr>
            <a:r>
              <a:rPr lang="en-US" sz="2100">
                <a:solidFill>
                  <a:srgbClr val="17365D"/>
                </a:solidFill>
                <a:latin typeface="Arial MT Pro"/>
                <a:ea typeface="Arial MT Pro"/>
                <a:cs typeface="Arial MT Pro"/>
                <a:sym typeface="Arial MT Pro"/>
              </a:rPr>
              <a:t>Inchara KR</a:t>
            </a:r>
          </a:p>
          <a:p>
            <a:pPr algn="l">
              <a:lnSpc>
                <a:spcPts val="3616"/>
              </a:lnSpc>
            </a:pPr>
            <a:r>
              <a:rPr lang="en-US" sz="2100">
                <a:solidFill>
                  <a:srgbClr val="17365D"/>
                </a:solidFill>
                <a:latin typeface="Arial MT Pro"/>
                <a:ea typeface="Arial MT Pro"/>
                <a:cs typeface="Arial MT Pro"/>
                <a:sym typeface="Arial MT Pro"/>
              </a:rPr>
              <a:t>Peddi Reddy Tejaswini Sahana Haragapure</a:t>
            </a:r>
          </a:p>
        </p:txBody>
      </p:sp>
      <p:sp>
        <p:nvSpPr>
          <p:cNvPr name="TextBox 8" id="8"/>
          <p:cNvSpPr txBox="true"/>
          <p:nvPr/>
        </p:nvSpPr>
        <p:spPr>
          <a:xfrm rot="0">
            <a:off x="9772709" y="3843185"/>
            <a:ext cx="3708083" cy="448313"/>
          </a:xfrm>
          <a:prstGeom prst="rect">
            <a:avLst/>
          </a:prstGeom>
        </p:spPr>
        <p:txBody>
          <a:bodyPr anchor="t" rtlCol="false" tIns="0" lIns="0" bIns="0" rIns="0">
            <a:spAutoFit/>
          </a:bodyPr>
          <a:lstStyle/>
          <a:p>
            <a:pPr algn="l">
              <a:lnSpc>
                <a:spcPts val="3150"/>
              </a:lnSpc>
            </a:pPr>
            <a:r>
              <a:rPr lang="en-US" sz="2625">
                <a:solidFill>
                  <a:srgbClr val="17365D"/>
                </a:solidFill>
                <a:latin typeface="Cambria"/>
                <a:ea typeface="Cambria"/>
                <a:cs typeface="Cambria"/>
                <a:sym typeface="Cambria"/>
              </a:rPr>
              <a:t>Under the Supervision of,</a:t>
            </a:r>
          </a:p>
        </p:txBody>
      </p:sp>
      <p:sp>
        <p:nvSpPr>
          <p:cNvPr name="TextBox 9" id="9"/>
          <p:cNvSpPr txBox="true"/>
          <p:nvPr/>
        </p:nvSpPr>
        <p:spPr>
          <a:xfrm rot="0">
            <a:off x="9772709" y="4498056"/>
            <a:ext cx="5514022" cy="1563367"/>
          </a:xfrm>
          <a:prstGeom prst="rect">
            <a:avLst/>
          </a:prstGeom>
        </p:spPr>
        <p:txBody>
          <a:bodyPr anchor="t" rtlCol="false" tIns="0" lIns="0" bIns="0" rIns="0">
            <a:spAutoFit/>
          </a:bodyPr>
          <a:lstStyle/>
          <a:p>
            <a:pPr algn="l">
              <a:lnSpc>
                <a:spcPts val="2951"/>
              </a:lnSpc>
            </a:pPr>
            <a:r>
              <a:rPr lang="en-US" sz="2250">
                <a:solidFill>
                  <a:srgbClr val="17365D"/>
                </a:solidFill>
                <a:latin typeface="Cambria"/>
                <a:ea typeface="Cambria"/>
                <a:cs typeface="Cambria"/>
                <a:sym typeface="Cambria"/>
              </a:rPr>
              <a:t>Dr. Jagadevi Bakka Assistant Professor</a:t>
            </a:r>
          </a:p>
          <a:p>
            <a:pPr algn="l">
              <a:lnSpc>
                <a:spcPts val="2951"/>
              </a:lnSpc>
            </a:pPr>
            <a:r>
              <a:rPr lang="en-US" sz="2250">
                <a:solidFill>
                  <a:srgbClr val="17365D"/>
                </a:solidFill>
                <a:latin typeface="Cambria"/>
                <a:ea typeface="Cambria"/>
                <a:cs typeface="Cambria"/>
                <a:sym typeface="Cambria"/>
              </a:rPr>
              <a:t>School of Computer Science and Engineering Presidency University</a:t>
            </a:r>
          </a:p>
        </p:txBody>
      </p:sp>
      <p:sp>
        <p:nvSpPr>
          <p:cNvPr name="TextBox 10" id="10" descr="$PPTXTitle"/>
          <p:cNvSpPr txBox="true"/>
          <p:nvPr/>
        </p:nvSpPr>
        <p:spPr>
          <a:xfrm rot="0">
            <a:off x="5888470" y="695801"/>
            <a:ext cx="5738280" cy="476250"/>
          </a:xfrm>
          <a:prstGeom prst="rect">
            <a:avLst/>
          </a:prstGeom>
        </p:spPr>
        <p:txBody>
          <a:bodyPr anchor="t" rtlCol="false" tIns="0" lIns="0" bIns="0" rIns="0">
            <a:spAutoFit/>
          </a:bodyPr>
          <a:lstStyle/>
          <a:p>
            <a:pPr algn="l">
              <a:lnSpc>
                <a:spcPts val="3600"/>
              </a:lnSpc>
            </a:pPr>
            <a:r>
              <a:rPr lang="en-US" sz="3000">
                <a:solidFill>
                  <a:srgbClr val="17365D"/>
                </a:solidFill>
                <a:latin typeface="Cambria"/>
                <a:ea typeface="Cambria"/>
                <a:cs typeface="Cambria"/>
                <a:sym typeface="Cambria"/>
              </a:rPr>
              <a:t>CSS7102- Mini Project Review-2</a:t>
            </a:r>
          </a:p>
        </p:txBody>
      </p:sp>
      <p:sp>
        <p:nvSpPr>
          <p:cNvPr name="TextBox 11" id="11"/>
          <p:cNvSpPr txBox="true"/>
          <p:nvPr/>
        </p:nvSpPr>
        <p:spPr>
          <a:xfrm rot="0">
            <a:off x="1290066" y="6850528"/>
            <a:ext cx="15031075" cy="1785937"/>
          </a:xfrm>
          <a:prstGeom prst="rect">
            <a:avLst/>
          </a:prstGeom>
        </p:spPr>
        <p:txBody>
          <a:bodyPr anchor="t" rtlCol="false" tIns="0" lIns="0" bIns="0" rIns="0">
            <a:spAutoFit/>
          </a:bodyPr>
          <a:lstStyle/>
          <a:p>
            <a:pPr algn="l">
              <a:lnSpc>
                <a:spcPts val="3525"/>
              </a:lnSpc>
            </a:pPr>
            <a:r>
              <a:rPr lang="en-US" sz="3000">
                <a:solidFill>
                  <a:srgbClr val="4F81BD"/>
                </a:solidFill>
                <a:latin typeface="Cambria"/>
                <a:ea typeface="Cambria"/>
                <a:cs typeface="Cambria"/>
                <a:sym typeface="Cambria"/>
              </a:rPr>
              <a:t>Name of the Program: B.Tech</a:t>
            </a:r>
          </a:p>
          <a:p>
            <a:pPr algn="l">
              <a:lnSpc>
                <a:spcPts val="3450"/>
              </a:lnSpc>
            </a:pPr>
            <a:r>
              <a:rPr lang="en-US" sz="3000">
                <a:solidFill>
                  <a:srgbClr val="4F81BD"/>
                </a:solidFill>
                <a:latin typeface="Cambria"/>
                <a:ea typeface="Cambria"/>
                <a:cs typeface="Cambria"/>
                <a:sym typeface="Cambria"/>
              </a:rPr>
              <a:t>Name of the HoD: Dr. Zafar Ali Khan N</a:t>
            </a:r>
          </a:p>
          <a:p>
            <a:pPr algn="l">
              <a:lnSpc>
                <a:spcPts val="3450"/>
              </a:lnSpc>
            </a:pPr>
            <a:r>
              <a:rPr lang="en-US" sz="3000">
                <a:solidFill>
                  <a:srgbClr val="4F81BD"/>
                </a:solidFill>
                <a:latin typeface="Cambria"/>
                <a:ea typeface="Cambria"/>
                <a:cs typeface="Cambria"/>
                <a:sym typeface="Cambria"/>
              </a:rPr>
              <a:t>Name of the Program Project Coordinator: Dr. Jagadevi Bakka </a:t>
            </a:r>
          </a:p>
          <a:p>
            <a:pPr algn="l">
              <a:lnSpc>
                <a:spcPts val="3450"/>
              </a:lnSpc>
            </a:pPr>
            <a:r>
              <a:rPr lang="en-US" sz="3000">
                <a:solidFill>
                  <a:srgbClr val="4F81BD"/>
                </a:solidFill>
                <a:latin typeface="Cambria"/>
                <a:ea typeface="Cambria"/>
                <a:cs typeface="Cambria"/>
                <a:sym typeface="Cambria"/>
              </a:rPr>
              <a:t>Name of the School Project Coordinators: Dr. Sampath A 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004735"/>
            <a:ext cx="18288000" cy="1282265"/>
            <a:chOff x="0" y="0"/>
            <a:chExt cx="24384000" cy="1709687"/>
          </a:xfrm>
        </p:grpSpPr>
        <p:sp>
          <p:nvSpPr>
            <p:cNvPr name="Freeform 3" id="3"/>
            <p:cNvSpPr/>
            <p:nvPr/>
          </p:nvSpPr>
          <p:spPr>
            <a:xfrm flipH="false" flipV="false" rot="0">
              <a:off x="0" y="0"/>
              <a:ext cx="24384000" cy="1709674"/>
            </a:xfrm>
            <a:custGeom>
              <a:avLst/>
              <a:gdLst/>
              <a:ahLst/>
              <a:cxnLst/>
              <a:rect r="r" b="b" t="t" l="l"/>
              <a:pathLst>
                <a:path h="1709674" w="24384000">
                  <a:moveTo>
                    <a:pt x="0" y="0"/>
                  </a:moveTo>
                  <a:lnTo>
                    <a:pt x="24384000" y="0"/>
                  </a:lnTo>
                  <a:lnTo>
                    <a:pt x="24384000" y="1709674"/>
                  </a:lnTo>
                  <a:lnTo>
                    <a:pt x="0" y="1709674"/>
                  </a:lnTo>
                  <a:lnTo>
                    <a:pt x="0" y="0"/>
                  </a:lnTo>
                  <a:close/>
                </a:path>
              </a:pathLst>
            </a:custGeom>
            <a:blipFill>
              <a:blip r:embed="rId2"/>
              <a:stretch>
                <a:fillRect l="0" t="-61304" r="0" b="-61305"/>
              </a:stretch>
            </a:blipFill>
          </p:spPr>
        </p:sp>
      </p:grpSp>
      <p:sp>
        <p:nvSpPr>
          <p:cNvPr name="TextBox 4" id="4" descr="$PPTXTitle"/>
          <p:cNvSpPr txBox="true"/>
          <p:nvPr/>
        </p:nvSpPr>
        <p:spPr>
          <a:xfrm rot="0">
            <a:off x="1268701" y="434111"/>
            <a:ext cx="10176881" cy="645328"/>
          </a:xfrm>
          <a:prstGeom prst="rect">
            <a:avLst/>
          </a:prstGeom>
        </p:spPr>
        <p:txBody>
          <a:bodyPr anchor="t" rtlCol="false" tIns="0" lIns="0" bIns="0" rIns="0">
            <a:spAutoFit/>
          </a:bodyPr>
          <a:lstStyle/>
          <a:p>
            <a:pPr algn="l">
              <a:lnSpc>
                <a:spcPts val="4770"/>
              </a:lnSpc>
            </a:pPr>
            <a:r>
              <a:rPr lang="en-US" sz="3975" spc="-14">
                <a:solidFill>
                  <a:srgbClr val="17365D"/>
                </a:solidFill>
                <a:latin typeface="Cambria"/>
                <a:ea typeface="Cambria"/>
                <a:cs typeface="Cambria"/>
                <a:sym typeface="Cambria"/>
              </a:rPr>
              <a:t>Content</a:t>
            </a:r>
          </a:p>
        </p:txBody>
      </p:sp>
      <p:sp>
        <p:nvSpPr>
          <p:cNvPr name="TextBox 5" id="5"/>
          <p:cNvSpPr txBox="true"/>
          <p:nvPr/>
        </p:nvSpPr>
        <p:spPr>
          <a:xfrm rot="0">
            <a:off x="1497301" y="1732274"/>
            <a:ext cx="9666460" cy="4362450"/>
          </a:xfrm>
          <a:prstGeom prst="rect">
            <a:avLst/>
          </a:prstGeom>
        </p:spPr>
        <p:txBody>
          <a:bodyPr anchor="t" rtlCol="false" tIns="0" lIns="0" bIns="0" rIns="0">
            <a:spAutoFit/>
          </a:bodyPr>
          <a:lstStyle/>
          <a:p>
            <a:pPr algn="l" marL="670255" indent="-335128" lvl="1">
              <a:lnSpc>
                <a:spcPts val="4320"/>
              </a:lnSpc>
              <a:buFont typeface="Arial"/>
              <a:buChar char="•"/>
            </a:pPr>
            <a:r>
              <a:rPr lang="en-US" sz="3600" spc="-14">
                <a:solidFill>
                  <a:srgbClr val="000000"/>
                </a:solidFill>
                <a:latin typeface="Cambria"/>
                <a:ea typeface="Cambria"/>
                <a:cs typeface="Cambria"/>
                <a:sym typeface="Cambria"/>
              </a:rPr>
              <a:t>Problem Statement</a:t>
            </a:r>
          </a:p>
          <a:p>
            <a:pPr algn="l" marL="670562" indent="-335281" lvl="1">
              <a:lnSpc>
                <a:spcPts val="4320"/>
              </a:lnSpc>
              <a:buFont typeface="Arial"/>
              <a:buChar char="•"/>
            </a:pPr>
            <a:r>
              <a:rPr lang="en-US" sz="3600" spc="-15">
                <a:solidFill>
                  <a:srgbClr val="000000"/>
                </a:solidFill>
                <a:latin typeface="Cambria"/>
                <a:ea typeface="Cambria"/>
                <a:cs typeface="Cambria"/>
                <a:sym typeface="Cambria"/>
              </a:rPr>
              <a:t>Abstract</a:t>
            </a:r>
          </a:p>
          <a:p>
            <a:pPr algn="l" marL="670255" indent="-335128" lvl="1">
              <a:lnSpc>
                <a:spcPts val="4320"/>
              </a:lnSpc>
              <a:buFont typeface="Arial"/>
              <a:buChar char="•"/>
            </a:pPr>
            <a:r>
              <a:rPr lang="en-US" sz="3600" spc="-14">
                <a:solidFill>
                  <a:srgbClr val="000000"/>
                </a:solidFill>
                <a:latin typeface="Cambria"/>
                <a:ea typeface="Cambria"/>
                <a:cs typeface="Cambria"/>
                <a:sym typeface="Cambria"/>
              </a:rPr>
              <a:t>Github Link</a:t>
            </a:r>
          </a:p>
          <a:p>
            <a:pPr algn="l" marL="670562" indent="-335281" lvl="1">
              <a:lnSpc>
                <a:spcPts val="4320"/>
              </a:lnSpc>
              <a:buFont typeface="Arial"/>
              <a:buChar char="•"/>
            </a:pPr>
            <a:r>
              <a:rPr lang="en-US" sz="3600" spc="-15">
                <a:solidFill>
                  <a:srgbClr val="000000"/>
                </a:solidFill>
                <a:latin typeface="Cambria"/>
                <a:ea typeface="Cambria"/>
                <a:cs typeface="Cambria"/>
                <a:sym typeface="Cambria"/>
              </a:rPr>
              <a:t>Objective</a:t>
            </a:r>
          </a:p>
          <a:p>
            <a:pPr algn="l" marL="670562" indent="-335281" lvl="1">
              <a:lnSpc>
                <a:spcPts val="4320"/>
              </a:lnSpc>
              <a:buFont typeface="Arial"/>
              <a:buChar char="•"/>
            </a:pPr>
            <a:r>
              <a:rPr lang="en-US" sz="3600" spc="-15">
                <a:solidFill>
                  <a:srgbClr val="000000"/>
                </a:solidFill>
                <a:latin typeface="Cambria"/>
                <a:ea typeface="Cambria"/>
                <a:cs typeface="Cambria"/>
                <a:sym typeface="Cambria"/>
              </a:rPr>
              <a:t>Analysis of Problem Statement</a:t>
            </a:r>
          </a:p>
          <a:p>
            <a:pPr algn="l" marL="670562" indent="-335281" lvl="1">
              <a:lnSpc>
                <a:spcPts val="4320"/>
              </a:lnSpc>
              <a:buFont typeface="Arial"/>
              <a:buChar char="•"/>
            </a:pPr>
            <a:r>
              <a:rPr lang="en-US" sz="3600" spc="-15">
                <a:solidFill>
                  <a:srgbClr val="000000"/>
                </a:solidFill>
                <a:latin typeface="Cambria"/>
                <a:ea typeface="Cambria"/>
                <a:cs typeface="Cambria"/>
                <a:sym typeface="Cambria"/>
              </a:rPr>
              <a:t>Timeline of the Project</a:t>
            </a:r>
          </a:p>
          <a:p>
            <a:pPr algn="l" marL="670255" indent="-335128" lvl="1">
              <a:lnSpc>
                <a:spcPts val="4320"/>
              </a:lnSpc>
              <a:buFont typeface="Arial"/>
              <a:buChar char="•"/>
            </a:pPr>
            <a:r>
              <a:rPr lang="en-US" sz="3600" spc="-14">
                <a:solidFill>
                  <a:srgbClr val="000000"/>
                </a:solidFill>
                <a:latin typeface="Cambria"/>
                <a:ea typeface="Cambria"/>
                <a:cs typeface="Cambria"/>
                <a:sym typeface="Cambria"/>
              </a:rPr>
              <a:t>References</a:t>
            </a:r>
          </a:p>
          <a:p>
            <a:pPr algn="l" marL="670562" indent="-335281" lvl="1">
              <a:lnSpc>
                <a:spcPts val="4320"/>
              </a:lnSpc>
              <a:buFont typeface="Arial"/>
              <a:buChar char="•"/>
            </a:pPr>
            <a:r>
              <a:rPr lang="en-US" sz="3600" spc="-15">
                <a:solidFill>
                  <a:srgbClr val="000000"/>
                </a:solidFill>
                <a:latin typeface="Cambria"/>
                <a:ea typeface="Cambria"/>
                <a:cs typeface="Cambria"/>
                <a:sym typeface="Cambria"/>
              </a:rPr>
              <a:t>Literature Survey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004735"/>
            <a:ext cx="18288000" cy="1282265"/>
            <a:chOff x="0" y="0"/>
            <a:chExt cx="24384000" cy="1709687"/>
          </a:xfrm>
        </p:grpSpPr>
        <p:sp>
          <p:nvSpPr>
            <p:cNvPr name="Freeform 3" id="3"/>
            <p:cNvSpPr/>
            <p:nvPr/>
          </p:nvSpPr>
          <p:spPr>
            <a:xfrm flipH="false" flipV="false" rot="0">
              <a:off x="0" y="0"/>
              <a:ext cx="24384000" cy="1709674"/>
            </a:xfrm>
            <a:custGeom>
              <a:avLst/>
              <a:gdLst/>
              <a:ahLst/>
              <a:cxnLst/>
              <a:rect r="r" b="b" t="t" l="l"/>
              <a:pathLst>
                <a:path h="1709674" w="24384000">
                  <a:moveTo>
                    <a:pt x="0" y="0"/>
                  </a:moveTo>
                  <a:lnTo>
                    <a:pt x="24384000" y="0"/>
                  </a:lnTo>
                  <a:lnTo>
                    <a:pt x="24384000" y="1709674"/>
                  </a:lnTo>
                  <a:lnTo>
                    <a:pt x="0" y="1709674"/>
                  </a:lnTo>
                  <a:lnTo>
                    <a:pt x="0" y="0"/>
                  </a:lnTo>
                  <a:close/>
                </a:path>
              </a:pathLst>
            </a:custGeom>
            <a:blipFill>
              <a:blip r:embed="rId2"/>
              <a:stretch>
                <a:fillRect l="0" t="-61304" r="0" b="-61305"/>
              </a:stretch>
            </a:blipFill>
          </p:spPr>
        </p:sp>
      </p:grpSp>
      <p:sp>
        <p:nvSpPr>
          <p:cNvPr name="TextBox 4" id="4" descr="$PPTXTitle"/>
          <p:cNvSpPr txBox="true"/>
          <p:nvPr/>
        </p:nvSpPr>
        <p:spPr>
          <a:xfrm rot="0">
            <a:off x="1268701" y="434111"/>
            <a:ext cx="6846243" cy="609600"/>
          </a:xfrm>
          <a:prstGeom prst="rect">
            <a:avLst/>
          </a:prstGeom>
        </p:spPr>
        <p:txBody>
          <a:bodyPr anchor="t" rtlCol="false" tIns="0" lIns="0" bIns="0" rIns="0">
            <a:spAutoFit/>
          </a:bodyPr>
          <a:lstStyle/>
          <a:p>
            <a:pPr algn="l">
              <a:lnSpc>
                <a:spcPts val="4770"/>
              </a:lnSpc>
            </a:pPr>
            <a:r>
              <a:rPr lang="en-US" sz="3975">
                <a:solidFill>
                  <a:srgbClr val="17365D"/>
                </a:solidFill>
                <a:latin typeface="Cambria"/>
                <a:ea typeface="Cambria"/>
                <a:cs typeface="Cambria"/>
                <a:sym typeface="Cambria"/>
              </a:rPr>
              <a:t>Problem Statement Number: 40</a:t>
            </a:r>
          </a:p>
        </p:txBody>
      </p:sp>
      <p:sp>
        <p:nvSpPr>
          <p:cNvPr name="TextBox 5" id="5"/>
          <p:cNvSpPr txBox="true"/>
          <p:nvPr/>
        </p:nvSpPr>
        <p:spPr>
          <a:xfrm rot="0">
            <a:off x="1133951" y="1503778"/>
            <a:ext cx="16402050" cy="5734050"/>
          </a:xfrm>
          <a:prstGeom prst="rect">
            <a:avLst/>
          </a:prstGeom>
        </p:spPr>
        <p:txBody>
          <a:bodyPr anchor="t" rtlCol="false" tIns="0" lIns="0" bIns="0" rIns="0">
            <a:spAutoFit/>
          </a:bodyPr>
          <a:lstStyle/>
          <a:p>
            <a:pPr algn="l">
              <a:lnSpc>
                <a:spcPts val="3600"/>
              </a:lnSpc>
            </a:pPr>
            <a:r>
              <a:rPr lang="en-US" sz="3000">
                <a:solidFill>
                  <a:srgbClr val="000000"/>
                </a:solidFill>
                <a:latin typeface="Cambria"/>
                <a:ea typeface="Cambria"/>
                <a:cs typeface="Cambria"/>
                <a:sym typeface="Cambria"/>
              </a:rPr>
              <a:t>Organization: Public Service Organizations (Government Agencies)</a:t>
            </a:r>
          </a:p>
          <a:p>
            <a:pPr algn="l">
              <a:lnSpc>
                <a:spcPts val="3600"/>
              </a:lnSpc>
            </a:pPr>
          </a:p>
          <a:p>
            <a:pPr algn="l">
              <a:lnSpc>
                <a:spcPts val="4320"/>
              </a:lnSpc>
            </a:pPr>
            <a:r>
              <a:rPr lang="en-US" sz="3600">
                <a:solidFill>
                  <a:srgbClr val="000000"/>
                </a:solidFill>
                <a:latin typeface="Cambria"/>
                <a:ea typeface="Cambria"/>
                <a:cs typeface="Cambria"/>
                <a:sym typeface="Cambria"/>
              </a:rPr>
              <a:t>Category : Software</a:t>
            </a:r>
          </a:p>
          <a:p>
            <a:pPr algn="l">
              <a:lnSpc>
                <a:spcPts val="4320"/>
              </a:lnSpc>
            </a:pPr>
          </a:p>
          <a:p>
            <a:pPr algn="l">
              <a:lnSpc>
                <a:spcPts val="4320"/>
              </a:lnSpc>
            </a:pPr>
            <a:r>
              <a:rPr lang="en-US" sz="3600" spc="-15">
                <a:solidFill>
                  <a:srgbClr val="000000"/>
                </a:solidFill>
                <a:latin typeface="Cambria"/>
                <a:ea typeface="Cambria"/>
                <a:cs typeface="Cambria"/>
                <a:sym typeface="Cambria"/>
              </a:rPr>
              <a:t>Problem Description:</a:t>
            </a:r>
          </a:p>
          <a:p>
            <a:pPr algn="just">
              <a:lnSpc>
                <a:spcPts val="3483"/>
              </a:lnSpc>
            </a:pPr>
            <a:r>
              <a:rPr lang="en-US" sz="3000" spc="-12">
                <a:solidFill>
                  <a:srgbClr val="000000"/>
                </a:solidFill>
                <a:latin typeface="Cambria"/>
                <a:ea typeface="Cambria"/>
                <a:cs typeface="Cambria"/>
                <a:sym typeface="Cambria"/>
              </a:rPr>
              <a:t>Public agencies receive citizen feedback through emails, social media, and surveys but often analyze these in silos. An AI assistant that unifies feedback, detects themes, and highlights emerging issues would improve responsiveness. The solution should focus on sentiment and topic modeling across channels, equity-aware treatment of minority voices, and dashboards for officials to track concerns over time.</a:t>
            </a:r>
          </a:p>
          <a:p>
            <a:pPr algn="just">
              <a:lnSpc>
                <a:spcPts val="3484"/>
              </a:lnSpc>
            </a:pPr>
          </a:p>
          <a:p>
            <a:pPr algn="l">
              <a:lnSpc>
                <a:spcPts val="4320"/>
              </a:lnSpc>
            </a:pPr>
            <a:r>
              <a:rPr lang="en-US" sz="3600" spc="-15">
                <a:solidFill>
                  <a:srgbClr val="000000"/>
                </a:solidFill>
                <a:latin typeface="Cambria"/>
                <a:ea typeface="Cambria"/>
                <a:cs typeface="Cambria"/>
                <a:sym typeface="Cambria"/>
              </a:rPr>
              <a:t>Difficulty Level: Medium–High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004735"/>
            <a:ext cx="18288000" cy="1282265"/>
            <a:chOff x="0" y="0"/>
            <a:chExt cx="24384000" cy="1709687"/>
          </a:xfrm>
        </p:grpSpPr>
        <p:sp>
          <p:nvSpPr>
            <p:cNvPr name="Freeform 3" id="3"/>
            <p:cNvSpPr/>
            <p:nvPr/>
          </p:nvSpPr>
          <p:spPr>
            <a:xfrm flipH="false" flipV="false" rot="0">
              <a:off x="0" y="0"/>
              <a:ext cx="24384000" cy="1709674"/>
            </a:xfrm>
            <a:custGeom>
              <a:avLst/>
              <a:gdLst/>
              <a:ahLst/>
              <a:cxnLst/>
              <a:rect r="r" b="b" t="t" l="l"/>
              <a:pathLst>
                <a:path h="1709674" w="24384000">
                  <a:moveTo>
                    <a:pt x="0" y="0"/>
                  </a:moveTo>
                  <a:lnTo>
                    <a:pt x="24384000" y="0"/>
                  </a:lnTo>
                  <a:lnTo>
                    <a:pt x="24384000" y="1709674"/>
                  </a:lnTo>
                  <a:lnTo>
                    <a:pt x="0" y="1709674"/>
                  </a:lnTo>
                  <a:lnTo>
                    <a:pt x="0" y="0"/>
                  </a:lnTo>
                  <a:close/>
                </a:path>
              </a:pathLst>
            </a:custGeom>
            <a:blipFill>
              <a:blip r:embed="rId2"/>
              <a:stretch>
                <a:fillRect l="0" t="-61304" r="0" b="-61305"/>
              </a:stretch>
            </a:blipFill>
          </p:spPr>
        </p:sp>
      </p:grpSp>
      <p:sp>
        <p:nvSpPr>
          <p:cNvPr name="TextBox 4" id="4"/>
          <p:cNvSpPr txBox="true"/>
          <p:nvPr/>
        </p:nvSpPr>
        <p:spPr>
          <a:xfrm rot="0">
            <a:off x="1028700" y="1992229"/>
            <a:ext cx="15995082" cy="4574540"/>
          </a:xfrm>
          <a:prstGeom prst="rect">
            <a:avLst/>
          </a:prstGeom>
        </p:spPr>
        <p:txBody>
          <a:bodyPr anchor="t" rtlCol="false" tIns="0" lIns="0" bIns="0" rIns="0">
            <a:spAutoFit/>
          </a:bodyPr>
          <a:lstStyle/>
          <a:p>
            <a:pPr algn="just">
              <a:lnSpc>
                <a:spcPts val="3639"/>
              </a:lnSpc>
            </a:pPr>
            <a:r>
              <a:rPr lang="en-US" sz="2799">
                <a:solidFill>
                  <a:srgbClr val="000000"/>
                </a:solidFill>
                <a:latin typeface="Cambria"/>
                <a:ea typeface="Cambria"/>
                <a:cs typeface="Cambria"/>
                <a:sym typeface="Cambria"/>
              </a:rPr>
              <a:t>CiviVoice AI is an AI-powered assistant designed to analyze citizen feedback received through multiple channels such as emails, surveys, social media, and online feedback platforms. Public agencies often handle these sources independently, making it difficult and time-consuming to identify recurring complaints, citizen sentiment, and emerging public-service issues. The proposed system integrates heterogeneous feedback into a unified platform and applies Natural Language Processing (NLP) techniques for text preprocessing, sentiment analysis, and topic detection. The system further identifies frequently occurring and emerging issues, assigns priority levels, and presents the results through an interactive dashboard. By converting unstructured citizen feedback into structured and actionable insights, CiviVoice AI aims to support public-service officials in understanding citizen concerns, prioritizing critical issues, and improving responsiveness and decision-making.</a:t>
            </a:r>
          </a:p>
        </p:txBody>
      </p:sp>
      <p:sp>
        <p:nvSpPr>
          <p:cNvPr name="TextBox 5" id="5"/>
          <p:cNvSpPr txBox="true"/>
          <p:nvPr/>
        </p:nvSpPr>
        <p:spPr>
          <a:xfrm rot="0">
            <a:off x="962099" y="719137"/>
            <a:ext cx="1948160" cy="609600"/>
          </a:xfrm>
          <a:prstGeom prst="rect">
            <a:avLst/>
          </a:prstGeom>
        </p:spPr>
        <p:txBody>
          <a:bodyPr anchor="t" rtlCol="false" tIns="0" lIns="0" bIns="0" rIns="0">
            <a:spAutoFit/>
          </a:bodyPr>
          <a:lstStyle/>
          <a:p>
            <a:pPr algn="ctr">
              <a:lnSpc>
                <a:spcPts val="4770"/>
              </a:lnSpc>
              <a:spcBef>
                <a:spcPct val="0"/>
              </a:spcBef>
            </a:pPr>
            <a:r>
              <a:rPr lang="en-US" sz="3975">
                <a:solidFill>
                  <a:srgbClr val="000000"/>
                </a:solidFill>
                <a:latin typeface="Cambria"/>
                <a:ea typeface="Cambria"/>
                <a:cs typeface="Cambria"/>
                <a:sym typeface="Cambria"/>
              </a:rPr>
              <a:t>Abstract: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004735"/>
            <a:ext cx="18288000" cy="1282265"/>
            <a:chOff x="0" y="0"/>
            <a:chExt cx="24384000" cy="1709687"/>
          </a:xfrm>
        </p:grpSpPr>
        <p:sp>
          <p:nvSpPr>
            <p:cNvPr name="Freeform 3" id="3"/>
            <p:cNvSpPr/>
            <p:nvPr/>
          </p:nvSpPr>
          <p:spPr>
            <a:xfrm flipH="false" flipV="false" rot="0">
              <a:off x="0" y="0"/>
              <a:ext cx="24384000" cy="1709674"/>
            </a:xfrm>
            <a:custGeom>
              <a:avLst/>
              <a:gdLst/>
              <a:ahLst/>
              <a:cxnLst/>
              <a:rect r="r" b="b" t="t" l="l"/>
              <a:pathLst>
                <a:path h="1709674" w="24384000">
                  <a:moveTo>
                    <a:pt x="0" y="0"/>
                  </a:moveTo>
                  <a:lnTo>
                    <a:pt x="24384000" y="0"/>
                  </a:lnTo>
                  <a:lnTo>
                    <a:pt x="24384000" y="1709674"/>
                  </a:lnTo>
                  <a:lnTo>
                    <a:pt x="0" y="1709674"/>
                  </a:lnTo>
                  <a:lnTo>
                    <a:pt x="0" y="0"/>
                  </a:lnTo>
                  <a:close/>
                </a:path>
              </a:pathLst>
            </a:custGeom>
            <a:blipFill>
              <a:blip r:embed="rId2"/>
              <a:stretch>
                <a:fillRect l="0" t="-61304" r="0" b="-61305"/>
              </a:stretch>
            </a:blipFill>
          </p:spPr>
        </p:sp>
      </p:grpSp>
      <p:sp>
        <p:nvSpPr>
          <p:cNvPr name="TextBox 4" id="4" descr="$PPTXTitle"/>
          <p:cNvSpPr txBox="true"/>
          <p:nvPr/>
        </p:nvSpPr>
        <p:spPr>
          <a:xfrm rot="0">
            <a:off x="1497301" y="437140"/>
            <a:ext cx="2569845" cy="642299"/>
          </a:xfrm>
          <a:prstGeom prst="rect">
            <a:avLst/>
          </a:prstGeom>
        </p:spPr>
        <p:txBody>
          <a:bodyPr anchor="t" rtlCol="false" tIns="0" lIns="0" bIns="0" rIns="0">
            <a:spAutoFit/>
          </a:bodyPr>
          <a:lstStyle/>
          <a:p>
            <a:pPr algn="l">
              <a:lnSpc>
                <a:spcPts val="4770"/>
              </a:lnSpc>
            </a:pPr>
            <a:r>
              <a:rPr lang="en-US" sz="3975">
                <a:solidFill>
                  <a:srgbClr val="17365D"/>
                </a:solidFill>
                <a:latin typeface="Cambria"/>
                <a:ea typeface="Cambria"/>
                <a:cs typeface="Cambria"/>
                <a:sym typeface="Cambria"/>
              </a:rPr>
              <a:t>Github Link</a:t>
            </a:r>
          </a:p>
        </p:txBody>
      </p:sp>
      <p:sp>
        <p:nvSpPr>
          <p:cNvPr name="TextBox 5" id="5"/>
          <p:cNvSpPr txBox="true"/>
          <p:nvPr/>
        </p:nvSpPr>
        <p:spPr>
          <a:xfrm rot="0">
            <a:off x="1374934" y="2679115"/>
            <a:ext cx="15538132" cy="1091563"/>
          </a:xfrm>
          <a:prstGeom prst="rect">
            <a:avLst/>
          </a:prstGeom>
        </p:spPr>
        <p:txBody>
          <a:bodyPr anchor="t" rtlCol="false" tIns="0" lIns="0" bIns="0" rIns="0">
            <a:spAutoFit/>
          </a:bodyPr>
          <a:lstStyle/>
          <a:p>
            <a:pPr algn="l">
              <a:lnSpc>
                <a:spcPts val="4200"/>
              </a:lnSpc>
            </a:pPr>
            <a:r>
              <a:rPr lang="en-US" sz="3600" spc="-15">
                <a:solidFill>
                  <a:srgbClr val="953735"/>
                </a:solidFill>
                <a:latin typeface="Cambria"/>
                <a:ea typeface="Cambria"/>
                <a:cs typeface="Cambria"/>
                <a:sym typeface="Cambria"/>
              </a:rPr>
              <a:t>Github	Link:	</a:t>
            </a:r>
            <a:r>
              <a:rPr lang="en-US" sz="3600" spc="-15" u="sng">
                <a:solidFill>
                  <a:srgbClr val="0000FF"/>
                </a:solidFill>
                <a:latin typeface="Cambria"/>
                <a:ea typeface="Cambria"/>
                <a:cs typeface="Cambria"/>
                <a:sym typeface="Cambria"/>
                <a:hlinkClick r:id="rId3" tooltip="https://github.com/inchara-k-r/AI-Assistant-for-Multi-Channel-"/>
              </a:rPr>
              <a:t>https://github.com/inchara-k-r/AI-Assistant-for-Multi-Channel-</a:t>
            </a:r>
            <a:r>
              <a:rPr lang="en-US" sz="3600" spc="-15" u="sng">
                <a:solidFill>
                  <a:srgbClr val="0000FF"/>
                </a:solidFill>
                <a:latin typeface="Cambria"/>
                <a:ea typeface="Cambria"/>
                <a:cs typeface="Cambria"/>
                <a:sym typeface="Cambria"/>
              </a:rPr>
              <a:t>Citizen-Feedback-Analysis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75635"/>
            <a:ext cx="2676004" cy="609600"/>
          </a:xfrm>
          <a:prstGeom prst="rect">
            <a:avLst/>
          </a:prstGeom>
        </p:spPr>
        <p:txBody>
          <a:bodyPr anchor="t" rtlCol="false" tIns="0" lIns="0" bIns="0" rIns="0">
            <a:spAutoFit/>
          </a:bodyPr>
          <a:lstStyle/>
          <a:p>
            <a:pPr algn="ctr">
              <a:lnSpc>
                <a:spcPts val="4770"/>
              </a:lnSpc>
              <a:spcBef>
                <a:spcPct val="0"/>
              </a:spcBef>
            </a:pPr>
            <a:r>
              <a:rPr lang="en-US" sz="3975">
                <a:solidFill>
                  <a:srgbClr val="000000"/>
                </a:solidFill>
                <a:latin typeface="Cambria"/>
                <a:ea typeface="Cambria"/>
                <a:cs typeface="Cambria"/>
                <a:sym typeface="Cambria"/>
              </a:rPr>
              <a:t>OBJECTIVES</a:t>
            </a:r>
          </a:p>
        </p:txBody>
      </p:sp>
      <p:sp>
        <p:nvSpPr>
          <p:cNvPr name="TextBox 3" id="3"/>
          <p:cNvSpPr txBox="true"/>
          <p:nvPr/>
        </p:nvSpPr>
        <p:spPr>
          <a:xfrm rot="0">
            <a:off x="1028700" y="1075460"/>
            <a:ext cx="16504341" cy="7629525"/>
          </a:xfrm>
          <a:prstGeom prst="rect">
            <a:avLst/>
          </a:prstGeom>
        </p:spPr>
        <p:txBody>
          <a:bodyPr anchor="t" rtlCol="false" tIns="0" lIns="0" bIns="0" rIns="0">
            <a:spAutoFit/>
          </a:bodyPr>
          <a:lstStyle/>
          <a:p>
            <a:pPr algn="l" marL="588618" indent="-294309" lvl="1">
              <a:lnSpc>
                <a:spcPts val="3271"/>
              </a:lnSpc>
              <a:buFont typeface="Arial"/>
              <a:buChar char="•"/>
            </a:pPr>
            <a:r>
              <a:rPr lang="en-US" sz="2726">
                <a:solidFill>
                  <a:srgbClr val="000000"/>
                </a:solidFill>
                <a:latin typeface="Cambria"/>
                <a:ea typeface="Cambria"/>
                <a:cs typeface="Cambria"/>
                <a:sym typeface="Cambria"/>
              </a:rPr>
              <a:t> </a:t>
            </a:r>
            <a:r>
              <a:rPr lang="en-US" b="true" sz="2726">
                <a:solidFill>
                  <a:srgbClr val="000000"/>
                </a:solidFill>
                <a:latin typeface="Cambria Bold"/>
                <a:ea typeface="Cambria Bold"/>
                <a:cs typeface="Cambria Bold"/>
                <a:sym typeface="Cambria Bold"/>
              </a:rPr>
              <a:t>Multi-channel integration</a:t>
            </a:r>
          </a:p>
          <a:p>
            <a:pPr algn="l">
              <a:lnSpc>
                <a:spcPts val="2979"/>
              </a:lnSpc>
            </a:pPr>
            <a:r>
              <a:rPr lang="en-US" sz="2483">
                <a:solidFill>
                  <a:srgbClr val="000000"/>
                </a:solidFill>
                <a:latin typeface="Cambria"/>
                <a:ea typeface="Cambria"/>
                <a:cs typeface="Cambria"/>
                <a:sym typeface="Cambria"/>
              </a:rPr>
              <a:t>       To  develop a unified platform for collecting and integrating citizen feedback from at least three channels, such as email, surveys, and social media.</a:t>
            </a:r>
          </a:p>
          <a:p>
            <a:pPr algn="l">
              <a:lnSpc>
                <a:spcPts val="2979"/>
              </a:lnSpc>
            </a:pPr>
          </a:p>
          <a:p>
            <a:pPr algn="l" marL="588618" indent="-294309" lvl="1">
              <a:lnSpc>
                <a:spcPts val="3271"/>
              </a:lnSpc>
              <a:buFont typeface="Arial"/>
              <a:buChar char="•"/>
            </a:pPr>
            <a:r>
              <a:rPr lang="en-US" b="true" sz="2726">
                <a:solidFill>
                  <a:srgbClr val="000000"/>
                </a:solidFill>
                <a:latin typeface="Cambria Bold"/>
                <a:ea typeface="Cambria Bold"/>
                <a:cs typeface="Cambria Bold"/>
                <a:sym typeface="Cambria Bold"/>
              </a:rPr>
              <a:t>Sentiment analysis</a:t>
            </a:r>
          </a:p>
          <a:p>
            <a:pPr algn="l">
              <a:lnSpc>
                <a:spcPts val="2979"/>
              </a:lnSpc>
            </a:pPr>
            <a:r>
              <a:rPr lang="en-US" sz="2483">
                <a:solidFill>
                  <a:srgbClr val="000000"/>
                </a:solidFill>
                <a:latin typeface="Cambria"/>
                <a:ea typeface="Cambria"/>
                <a:cs typeface="Cambria"/>
                <a:sym typeface="Cambria"/>
              </a:rPr>
              <a:t>     </a:t>
            </a:r>
            <a:r>
              <a:rPr lang="en-US" sz="2483">
                <a:solidFill>
                  <a:srgbClr val="000000"/>
                </a:solidFill>
                <a:latin typeface="Cambria"/>
                <a:ea typeface="Cambria"/>
                <a:cs typeface="Cambria"/>
                <a:sym typeface="Cambria"/>
              </a:rPr>
              <a:t>To automatically classify citizen feedback into positive, neutral, and negative sentiment categories     using NLP-based machine learning/transformer models.</a:t>
            </a:r>
          </a:p>
          <a:p>
            <a:pPr algn="l">
              <a:lnSpc>
                <a:spcPts val="2979"/>
              </a:lnSpc>
            </a:pPr>
          </a:p>
          <a:p>
            <a:pPr algn="l" marL="588618" indent="-294309" lvl="1">
              <a:lnSpc>
                <a:spcPts val="3271"/>
              </a:lnSpc>
              <a:buFont typeface="Arial"/>
              <a:buChar char="•"/>
            </a:pPr>
            <a:r>
              <a:rPr lang="en-US" b="true" sz="2726">
                <a:solidFill>
                  <a:srgbClr val="000000"/>
                </a:solidFill>
                <a:latin typeface="Cambria Bold"/>
                <a:ea typeface="Cambria Bold"/>
                <a:cs typeface="Cambria Bold"/>
                <a:sym typeface="Cambria Bold"/>
              </a:rPr>
              <a:t>Topic and issue detection</a:t>
            </a:r>
          </a:p>
          <a:p>
            <a:pPr algn="l">
              <a:lnSpc>
                <a:spcPts val="2979"/>
              </a:lnSpc>
            </a:pPr>
            <a:r>
              <a:rPr lang="en-US" sz="2483">
                <a:solidFill>
                  <a:srgbClr val="000000"/>
                </a:solidFill>
                <a:latin typeface="Cambria"/>
                <a:ea typeface="Cambria"/>
                <a:cs typeface="Cambria"/>
                <a:sym typeface="Cambria"/>
              </a:rPr>
              <a:t>    </a:t>
            </a:r>
            <a:r>
              <a:rPr lang="en-US" sz="2483">
                <a:solidFill>
                  <a:srgbClr val="000000"/>
                </a:solidFill>
                <a:latin typeface="Cambria"/>
                <a:ea typeface="Cambria"/>
                <a:cs typeface="Cambria"/>
                <a:sym typeface="Cambria"/>
              </a:rPr>
              <a:t>To identify recurring service-related topics and emerging issues from large volumes of unstructured citizen feedback using topic-analysis techniques.</a:t>
            </a:r>
          </a:p>
          <a:p>
            <a:pPr algn="l">
              <a:lnSpc>
                <a:spcPts val="2979"/>
              </a:lnSpc>
            </a:pPr>
          </a:p>
          <a:p>
            <a:pPr algn="l" marL="588618" indent="-294309" lvl="1">
              <a:lnSpc>
                <a:spcPts val="3271"/>
              </a:lnSpc>
              <a:buFont typeface="Arial"/>
              <a:buChar char="•"/>
            </a:pPr>
            <a:r>
              <a:rPr lang="en-US" sz="2726">
                <a:solidFill>
                  <a:srgbClr val="000000"/>
                </a:solidFill>
                <a:latin typeface="Cambria"/>
                <a:ea typeface="Cambria"/>
                <a:cs typeface="Cambria"/>
                <a:sym typeface="Cambria"/>
              </a:rPr>
              <a:t> </a:t>
            </a:r>
            <a:r>
              <a:rPr lang="en-US" b="true" sz="2726">
                <a:solidFill>
                  <a:srgbClr val="000000"/>
                </a:solidFill>
                <a:latin typeface="Cambria Bold"/>
                <a:ea typeface="Cambria Bold"/>
                <a:cs typeface="Cambria Bold"/>
                <a:sym typeface="Cambria Bold"/>
              </a:rPr>
              <a:t>Issue prioritization</a:t>
            </a:r>
          </a:p>
          <a:p>
            <a:pPr algn="l">
              <a:lnSpc>
                <a:spcPts val="2979"/>
              </a:lnSpc>
            </a:pPr>
            <a:r>
              <a:rPr lang="en-US" sz="2483">
                <a:solidFill>
                  <a:srgbClr val="000000"/>
                </a:solidFill>
                <a:latin typeface="Cambria"/>
                <a:ea typeface="Cambria"/>
                <a:cs typeface="Cambria"/>
                <a:sym typeface="Cambria"/>
              </a:rPr>
              <a:t>To assign priority levels to identified issues based on factors such as sentiment severity, frequency, and urgency, enabling officials to focus on critical concerns.</a:t>
            </a:r>
          </a:p>
          <a:p>
            <a:pPr algn="l">
              <a:lnSpc>
                <a:spcPts val="2979"/>
              </a:lnSpc>
            </a:pPr>
          </a:p>
          <a:p>
            <a:pPr algn="l" marL="588618" indent="-294309" lvl="1">
              <a:lnSpc>
                <a:spcPts val="3271"/>
              </a:lnSpc>
              <a:buFont typeface="Arial"/>
              <a:buChar char="•"/>
            </a:pPr>
            <a:r>
              <a:rPr lang="en-US" sz="2726">
                <a:solidFill>
                  <a:srgbClr val="000000"/>
                </a:solidFill>
                <a:latin typeface="Cambria"/>
                <a:ea typeface="Cambria"/>
                <a:cs typeface="Cambria"/>
                <a:sym typeface="Cambria"/>
              </a:rPr>
              <a:t> </a:t>
            </a:r>
            <a:r>
              <a:rPr lang="en-US" b="true" sz="2726">
                <a:solidFill>
                  <a:srgbClr val="000000"/>
                </a:solidFill>
                <a:latin typeface="Cambria Bold"/>
                <a:ea typeface="Cambria Bold"/>
                <a:cs typeface="Cambria Bold"/>
                <a:sym typeface="Cambria Bold"/>
              </a:rPr>
              <a:t>Decision-support dashboard</a:t>
            </a:r>
          </a:p>
          <a:p>
            <a:pPr algn="l">
              <a:lnSpc>
                <a:spcPts val="2979"/>
              </a:lnSpc>
            </a:pPr>
            <a:r>
              <a:rPr lang="en-US" sz="2483">
                <a:solidFill>
                  <a:srgbClr val="000000"/>
                </a:solidFill>
                <a:latin typeface="Cambria"/>
                <a:ea typeface="Cambria"/>
                <a:cs typeface="Cambria"/>
                <a:sym typeface="Cambria"/>
              </a:rPr>
              <a:t>To develop an interactive dashboard that visualizes feedback trends, sentiment distribution, major topics, emerging issues, and priority complaints for public-service decision-making.</a:t>
            </a:r>
          </a:p>
          <a:p>
            <a:pPr algn="l">
              <a:lnSpc>
                <a:spcPts val="2979"/>
              </a:lnSpc>
            </a:pPr>
          </a:p>
        </p:txBody>
      </p:sp>
      <p:grpSp>
        <p:nvGrpSpPr>
          <p:cNvPr name="Group 4" id="4"/>
          <p:cNvGrpSpPr/>
          <p:nvPr/>
        </p:nvGrpSpPr>
        <p:grpSpPr>
          <a:xfrm rot="0">
            <a:off x="0" y="9004735"/>
            <a:ext cx="18288000" cy="1282265"/>
            <a:chOff x="0" y="0"/>
            <a:chExt cx="24384000" cy="1709687"/>
          </a:xfrm>
        </p:grpSpPr>
        <p:sp>
          <p:nvSpPr>
            <p:cNvPr name="Freeform 5" id="5"/>
            <p:cNvSpPr/>
            <p:nvPr/>
          </p:nvSpPr>
          <p:spPr>
            <a:xfrm flipH="false" flipV="false" rot="0">
              <a:off x="0" y="0"/>
              <a:ext cx="24384000" cy="1709674"/>
            </a:xfrm>
            <a:custGeom>
              <a:avLst/>
              <a:gdLst/>
              <a:ahLst/>
              <a:cxnLst/>
              <a:rect r="r" b="b" t="t" l="l"/>
              <a:pathLst>
                <a:path h="1709674" w="24384000">
                  <a:moveTo>
                    <a:pt x="0" y="0"/>
                  </a:moveTo>
                  <a:lnTo>
                    <a:pt x="24384000" y="0"/>
                  </a:lnTo>
                  <a:lnTo>
                    <a:pt x="24384000" y="1709674"/>
                  </a:lnTo>
                  <a:lnTo>
                    <a:pt x="0" y="1709674"/>
                  </a:lnTo>
                  <a:lnTo>
                    <a:pt x="0" y="0"/>
                  </a:lnTo>
                  <a:close/>
                </a:path>
              </a:pathLst>
            </a:custGeom>
            <a:blipFill>
              <a:blip r:embed="rId2"/>
              <a:stretch>
                <a:fillRect l="0" t="-61304" r="0" b="-61305"/>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004735"/>
            <a:ext cx="18288000" cy="1282265"/>
            <a:chOff x="0" y="0"/>
            <a:chExt cx="24384000" cy="1709687"/>
          </a:xfrm>
        </p:grpSpPr>
        <p:sp>
          <p:nvSpPr>
            <p:cNvPr name="Freeform 3" id="3"/>
            <p:cNvSpPr/>
            <p:nvPr/>
          </p:nvSpPr>
          <p:spPr>
            <a:xfrm flipH="false" flipV="false" rot="0">
              <a:off x="0" y="0"/>
              <a:ext cx="24384000" cy="1709674"/>
            </a:xfrm>
            <a:custGeom>
              <a:avLst/>
              <a:gdLst/>
              <a:ahLst/>
              <a:cxnLst/>
              <a:rect r="r" b="b" t="t" l="l"/>
              <a:pathLst>
                <a:path h="1709674" w="24384000">
                  <a:moveTo>
                    <a:pt x="0" y="0"/>
                  </a:moveTo>
                  <a:lnTo>
                    <a:pt x="24384000" y="0"/>
                  </a:lnTo>
                  <a:lnTo>
                    <a:pt x="24384000" y="1709674"/>
                  </a:lnTo>
                  <a:lnTo>
                    <a:pt x="0" y="1709674"/>
                  </a:lnTo>
                  <a:lnTo>
                    <a:pt x="0" y="0"/>
                  </a:lnTo>
                  <a:close/>
                </a:path>
              </a:pathLst>
            </a:custGeom>
            <a:blipFill>
              <a:blip r:embed="rId2"/>
              <a:stretch>
                <a:fillRect l="0" t="-61304" r="0" b="-61305"/>
              </a:stretch>
            </a:blipFill>
          </p:spPr>
        </p:sp>
      </p:grpSp>
      <p:sp>
        <p:nvSpPr>
          <p:cNvPr name="TextBox 4" id="4" descr="$PPTXTitle"/>
          <p:cNvSpPr txBox="true"/>
          <p:nvPr/>
        </p:nvSpPr>
        <p:spPr>
          <a:xfrm rot="0">
            <a:off x="1268701" y="434111"/>
            <a:ext cx="10176881" cy="645328"/>
          </a:xfrm>
          <a:prstGeom prst="rect">
            <a:avLst/>
          </a:prstGeom>
        </p:spPr>
        <p:txBody>
          <a:bodyPr anchor="t" rtlCol="false" tIns="0" lIns="0" bIns="0" rIns="0">
            <a:spAutoFit/>
          </a:bodyPr>
          <a:lstStyle/>
          <a:p>
            <a:pPr algn="l">
              <a:lnSpc>
                <a:spcPts val="4770"/>
              </a:lnSpc>
            </a:pPr>
            <a:r>
              <a:rPr lang="en-US" sz="3975">
                <a:solidFill>
                  <a:srgbClr val="17365D"/>
                </a:solidFill>
                <a:latin typeface="Cambria"/>
                <a:ea typeface="Cambria"/>
                <a:cs typeface="Cambria"/>
                <a:sym typeface="Cambria"/>
              </a:rPr>
              <a:t>Analysis of Problem Statement</a:t>
            </a:r>
          </a:p>
        </p:txBody>
      </p:sp>
      <p:sp>
        <p:nvSpPr>
          <p:cNvPr name="TextBox 5" id="5"/>
          <p:cNvSpPr txBox="true"/>
          <p:nvPr/>
        </p:nvSpPr>
        <p:spPr>
          <a:xfrm rot="0">
            <a:off x="1497301" y="1617764"/>
            <a:ext cx="6099810" cy="593093"/>
          </a:xfrm>
          <a:prstGeom prst="rect">
            <a:avLst/>
          </a:prstGeom>
        </p:spPr>
        <p:txBody>
          <a:bodyPr anchor="t" rtlCol="false" tIns="0" lIns="0" bIns="0" rIns="0">
            <a:spAutoFit/>
          </a:bodyPr>
          <a:lstStyle/>
          <a:p>
            <a:pPr algn="l">
              <a:lnSpc>
                <a:spcPts val="4320"/>
              </a:lnSpc>
            </a:pPr>
            <a:r>
              <a:rPr lang="en-US" sz="3600" spc="-15">
                <a:solidFill>
                  <a:srgbClr val="000000"/>
                </a:solidFill>
                <a:latin typeface="Cambria"/>
                <a:ea typeface="Cambria"/>
                <a:cs typeface="Cambria"/>
                <a:sym typeface="Cambria"/>
              </a:rPr>
              <a:t>Technology Stack Components:</a:t>
            </a:r>
          </a:p>
        </p:txBody>
      </p:sp>
      <p:graphicFrame>
        <p:nvGraphicFramePr>
          <p:cNvPr name="Table 6" id="6"/>
          <p:cNvGraphicFramePr>
            <a:graphicFrameLocks noGrp="true"/>
          </p:cNvGraphicFramePr>
          <p:nvPr/>
        </p:nvGraphicFramePr>
        <p:xfrm>
          <a:off x="1743075" y="2524125"/>
          <a:ext cx="15811500" cy="6567705"/>
        </p:xfrm>
        <a:graphic>
          <a:graphicData uri="http://schemas.openxmlformats.org/drawingml/2006/table">
            <a:tbl>
              <a:tblPr/>
              <a:tblGrid>
                <a:gridCol w="3688375"/>
                <a:gridCol w="6017676"/>
                <a:gridCol w="6105449"/>
              </a:tblGrid>
              <a:tr h="1135700">
                <a:tc>
                  <a:txBody>
                    <a:bodyPr anchor="t" rtlCol="false"/>
                    <a:lstStyle/>
                    <a:p>
                      <a:pPr algn="l">
                        <a:lnSpc>
                          <a:spcPts val="3060"/>
                        </a:lnSpc>
                        <a:defRPr/>
                      </a:pPr>
                      <a:r>
                        <a:rPr lang="en-US" b="true" sz="2550" spc="-14">
                          <a:solidFill>
                            <a:srgbClr val="FFFFFF"/>
                          </a:solidFill>
                          <a:latin typeface="Times New Roman Bold"/>
                          <a:ea typeface="Times New Roman Bold"/>
                          <a:cs typeface="Times New Roman Bold"/>
                          <a:sym typeface="Times New Roman Bold"/>
                        </a:rPr>
                        <a:t>Component</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F81BD"/>
                    </a:solidFill>
                  </a:tcPr>
                </a:tc>
                <a:tc>
                  <a:txBody>
                    <a:bodyPr anchor="t" rtlCol="false"/>
                    <a:lstStyle/>
                    <a:p>
                      <a:pPr algn="l">
                        <a:lnSpc>
                          <a:spcPts val="3060"/>
                        </a:lnSpc>
                        <a:defRPr/>
                      </a:pPr>
                      <a:r>
                        <a:rPr lang="en-US" b="true" sz="2550" spc="-14">
                          <a:solidFill>
                            <a:srgbClr val="FFFFFF"/>
                          </a:solidFill>
                          <a:latin typeface="Times New Roman Bold"/>
                          <a:ea typeface="Times New Roman Bold"/>
                          <a:cs typeface="Times New Roman Bold"/>
                          <a:sym typeface="Times New Roman Bold"/>
                        </a:rPr>
                        <a:t>Technology</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F81BD"/>
                    </a:solidFill>
                  </a:tcPr>
                </a:tc>
                <a:tc>
                  <a:txBody>
                    <a:bodyPr anchor="t" rtlCol="false"/>
                    <a:lstStyle/>
                    <a:p>
                      <a:pPr algn="l">
                        <a:lnSpc>
                          <a:spcPts val="3060"/>
                        </a:lnSpc>
                        <a:defRPr/>
                      </a:pPr>
                      <a:r>
                        <a:rPr lang="en-US" b="true" sz="2550" spc="-14">
                          <a:solidFill>
                            <a:srgbClr val="FFFFFF"/>
                          </a:solidFill>
                          <a:latin typeface="Times New Roman Bold"/>
                          <a:ea typeface="Times New Roman Bold"/>
                          <a:cs typeface="Times New Roman Bold"/>
                          <a:sym typeface="Times New Roman Bold"/>
                        </a:rPr>
                        <a:t>Purpose</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F81BD"/>
                    </a:solidFill>
                  </a:tcPr>
                </a:tc>
              </a:tr>
              <a:tr h="1054255">
                <a:tc>
                  <a:txBody>
                    <a:bodyPr anchor="t" rtlCol="false"/>
                    <a:lstStyle/>
                    <a:p>
                      <a:pPr algn="l">
                        <a:lnSpc>
                          <a:spcPts val="3060"/>
                        </a:lnSpc>
                        <a:defRPr/>
                      </a:pPr>
                      <a:endParaRPr lang="en-US" sz="1100"/>
                    </a:p>
                    <a:p>
                      <a:pPr algn="l">
                        <a:lnSpc>
                          <a:spcPts val="3060"/>
                        </a:lnSpc>
                      </a:pPr>
                      <a:r>
                        <a:rPr lang="en-US" sz="2550" spc="-14">
                          <a:solidFill>
                            <a:srgbClr val="000000"/>
                          </a:solidFill>
                          <a:latin typeface="Times New Roman"/>
                          <a:ea typeface="Times New Roman"/>
                          <a:cs typeface="Times New Roman"/>
                          <a:sym typeface="Times New Roman"/>
                        </a:rPr>
                        <a:t>Frontend</a:t>
                      </a:r>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c>
                  <a:txBody>
                    <a:bodyPr anchor="t" rtlCol="false"/>
                    <a:lstStyle/>
                    <a:p>
                      <a:pPr algn="l">
                        <a:lnSpc>
                          <a:spcPts val="3060"/>
                        </a:lnSpc>
                        <a:defRPr/>
                      </a:pPr>
                      <a:endParaRPr lang="en-US" sz="1100"/>
                    </a:p>
                    <a:p>
                      <a:pPr algn="l">
                        <a:lnSpc>
                          <a:spcPts val="3060"/>
                        </a:lnSpc>
                      </a:pPr>
                      <a:r>
                        <a:rPr lang="en-US" sz="2550">
                          <a:solidFill>
                            <a:srgbClr val="000000"/>
                          </a:solidFill>
                          <a:latin typeface="Times New Roman"/>
                          <a:ea typeface="Times New Roman"/>
                          <a:cs typeface="Times New Roman"/>
                          <a:sym typeface="Times New Roman"/>
                        </a:rPr>
                        <a:t>Streamlit / HTML, CSS, JavaScript</a:t>
                      </a:r>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c>
                  <a:txBody>
                    <a:bodyPr anchor="t" rtlCol="false"/>
                    <a:lstStyle/>
                    <a:p>
                      <a:pPr algn="l">
                        <a:lnSpc>
                          <a:spcPts val="3060"/>
                        </a:lnSpc>
                        <a:defRPr/>
                      </a:pPr>
                      <a:endParaRPr lang="en-US" sz="1100"/>
                    </a:p>
                    <a:p>
                      <a:pPr algn="l">
                        <a:lnSpc>
                          <a:spcPts val="3060"/>
                        </a:lnSpc>
                      </a:pPr>
                      <a:r>
                        <a:rPr lang="en-US" sz="2550">
                          <a:solidFill>
                            <a:srgbClr val="000000"/>
                          </a:solidFill>
                          <a:latin typeface="Times New Roman"/>
                          <a:ea typeface="Times New Roman"/>
                          <a:cs typeface="Times New Roman"/>
                          <a:sym typeface="Times New Roman"/>
                        </a:rPr>
                        <a:t>User interface and dashboard</a:t>
                      </a:r>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r>
              <a:tr h="1036157">
                <a:tc>
                  <a:txBody>
                    <a:bodyPr anchor="t" rtlCol="false"/>
                    <a:lstStyle/>
                    <a:p>
                      <a:pPr algn="l">
                        <a:lnSpc>
                          <a:spcPts val="3060"/>
                        </a:lnSpc>
                        <a:defRPr/>
                      </a:pPr>
                      <a:r>
                        <a:rPr lang="en-US" sz="2550" spc="-14">
                          <a:solidFill>
                            <a:srgbClr val="000000"/>
                          </a:solidFill>
                          <a:latin typeface="Times New Roman"/>
                          <a:ea typeface="Times New Roman"/>
                          <a:cs typeface="Times New Roman"/>
                          <a:sym typeface="Times New Roman"/>
                        </a:rPr>
                        <a:t>Backend</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c>
                  <a:txBody>
                    <a:bodyPr anchor="t" rtlCol="false"/>
                    <a:lstStyle/>
                    <a:p>
                      <a:pPr algn="l">
                        <a:lnSpc>
                          <a:spcPts val="3060"/>
                        </a:lnSpc>
                        <a:defRPr/>
                      </a:pPr>
                      <a:r>
                        <a:rPr lang="en-US" sz="2550">
                          <a:solidFill>
                            <a:srgbClr val="000000"/>
                          </a:solidFill>
                          <a:latin typeface="Times New Roman"/>
                          <a:ea typeface="Times New Roman"/>
                          <a:cs typeface="Times New Roman"/>
                          <a:sym typeface="Times New Roman"/>
                        </a:rPr>
                        <a:t>Python, Flask (or FastAPI)</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c>
                  <a:txBody>
                    <a:bodyPr anchor="t" rtlCol="false"/>
                    <a:lstStyle/>
                    <a:p>
                      <a:pPr algn="l">
                        <a:lnSpc>
                          <a:spcPts val="3060"/>
                        </a:lnSpc>
                        <a:defRPr/>
                      </a:pPr>
                      <a:r>
                        <a:rPr lang="en-US" sz="2550">
                          <a:solidFill>
                            <a:srgbClr val="000000"/>
                          </a:solidFill>
                          <a:latin typeface="Times New Roman"/>
                          <a:ea typeface="Times New Roman"/>
                          <a:cs typeface="Times New Roman"/>
                          <a:sym typeface="Times New Roman"/>
                        </a:rPr>
                        <a:t>API development and application logic</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r>
              <a:tr h="1036157">
                <a:tc>
                  <a:txBody>
                    <a:bodyPr anchor="t" rtlCol="false"/>
                    <a:lstStyle/>
                    <a:p>
                      <a:pPr algn="l">
                        <a:lnSpc>
                          <a:spcPts val="3060"/>
                        </a:lnSpc>
                        <a:defRPr/>
                      </a:pPr>
                      <a:r>
                        <a:rPr lang="en-US" sz="2550">
                          <a:solidFill>
                            <a:srgbClr val="000000"/>
                          </a:solidFill>
                          <a:latin typeface="Times New Roman"/>
                          <a:ea typeface="Times New Roman"/>
                          <a:cs typeface="Times New Roman"/>
                          <a:sym typeface="Times New Roman"/>
                        </a:rPr>
                        <a:t>Programming Language</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c>
                  <a:txBody>
                    <a:bodyPr anchor="t" rtlCol="false"/>
                    <a:lstStyle/>
                    <a:p>
                      <a:pPr algn="l">
                        <a:lnSpc>
                          <a:spcPts val="3060"/>
                        </a:lnSpc>
                        <a:defRPr/>
                      </a:pPr>
                      <a:r>
                        <a:rPr lang="en-US" sz="2550" spc="-14">
                          <a:solidFill>
                            <a:srgbClr val="000000"/>
                          </a:solidFill>
                          <a:latin typeface="Times New Roman"/>
                          <a:ea typeface="Times New Roman"/>
                          <a:cs typeface="Times New Roman"/>
                          <a:sym typeface="Times New Roman"/>
                        </a:rPr>
                        <a:t>Python</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c>
                  <a:txBody>
                    <a:bodyPr anchor="t" rtlCol="false"/>
                    <a:lstStyle/>
                    <a:p>
                      <a:pPr algn="l">
                        <a:lnSpc>
                          <a:spcPts val="3060"/>
                        </a:lnSpc>
                        <a:defRPr/>
                      </a:pPr>
                      <a:r>
                        <a:rPr lang="en-US" sz="2550" spc="-14">
                          <a:solidFill>
                            <a:srgbClr val="000000"/>
                          </a:solidFill>
                          <a:latin typeface="Times New Roman"/>
                          <a:ea typeface="Times New Roman"/>
                          <a:cs typeface="Times New Roman"/>
                          <a:sym typeface="Times New Roman"/>
                        </a:rPr>
                        <a:t>Core development</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r>
              <a:tr h="1396342">
                <a:tc>
                  <a:txBody>
                    <a:bodyPr anchor="t" rtlCol="false"/>
                    <a:lstStyle/>
                    <a:p>
                      <a:pPr algn="l">
                        <a:lnSpc>
                          <a:spcPts val="3060"/>
                        </a:lnSpc>
                        <a:defRPr/>
                      </a:pPr>
                      <a:r>
                        <a:rPr lang="en-US" sz="2550">
                          <a:solidFill>
                            <a:srgbClr val="000000"/>
                          </a:solidFill>
                          <a:latin typeface="Times New Roman"/>
                          <a:ea typeface="Times New Roman"/>
                          <a:cs typeface="Times New Roman"/>
                          <a:sym typeface="Times New Roman"/>
                        </a:rPr>
                        <a:t>NLP &amp; AI</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c>
                  <a:txBody>
                    <a:bodyPr anchor="t" rtlCol="false"/>
                    <a:lstStyle/>
                    <a:p>
                      <a:pPr algn="l">
                        <a:lnSpc>
                          <a:spcPts val="3060"/>
                        </a:lnSpc>
                        <a:defRPr/>
                      </a:pPr>
                      <a:endParaRPr lang="en-US" sz="1100"/>
                    </a:p>
                    <a:p>
                      <a:pPr algn="l">
                        <a:lnSpc>
                          <a:spcPts val="2999"/>
                        </a:lnSpc>
                      </a:pPr>
                      <a:r>
                        <a:rPr lang="en-US" sz="2550">
                          <a:solidFill>
                            <a:srgbClr val="000000"/>
                          </a:solidFill>
                          <a:latin typeface="Times New Roman"/>
                          <a:ea typeface="Times New Roman"/>
                          <a:cs typeface="Times New Roman"/>
                          <a:sym typeface="Times New Roman"/>
                        </a:rPr>
                        <a:t>Hugging Face Transformers, BERT, NLTK, spaCy</a:t>
                      </a:r>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c>
                  <a:txBody>
                    <a:bodyPr anchor="t" rtlCol="false"/>
                    <a:lstStyle/>
                    <a:p>
                      <a:pPr algn="l">
                        <a:lnSpc>
                          <a:spcPts val="3060"/>
                        </a:lnSpc>
                        <a:defRPr/>
                      </a:pPr>
                      <a:endParaRPr lang="en-US" sz="1100"/>
                    </a:p>
                    <a:p>
                      <a:pPr algn="l">
                        <a:lnSpc>
                          <a:spcPts val="2999"/>
                        </a:lnSpc>
                      </a:pPr>
                      <a:r>
                        <a:rPr lang="en-US" sz="2550">
                          <a:solidFill>
                            <a:srgbClr val="000000"/>
                          </a:solidFill>
                          <a:latin typeface="Times New Roman"/>
                          <a:ea typeface="Times New Roman"/>
                          <a:cs typeface="Times New Roman"/>
                          <a:sym typeface="Times New Roman"/>
                        </a:rPr>
                        <a:t>Text preprocessing, sentiment analysis, summarization</a:t>
                      </a:r>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r>
              <a:tr h="909094">
                <a:tc>
                  <a:txBody>
                    <a:bodyPr anchor="t" rtlCol="false"/>
                    <a:lstStyle/>
                    <a:p>
                      <a:pPr algn="l">
                        <a:lnSpc>
                          <a:spcPts val="3060"/>
                        </a:lnSpc>
                        <a:defRPr/>
                      </a:pPr>
                      <a:r>
                        <a:rPr lang="en-US" sz="2550" spc="-14">
                          <a:solidFill>
                            <a:srgbClr val="000000"/>
                          </a:solidFill>
                          <a:latin typeface="Times New Roman"/>
                          <a:ea typeface="Times New Roman"/>
                          <a:cs typeface="Times New Roman"/>
                          <a:sym typeface="Times New Roman"/>
                        </a:rPr>
                        <a:t>Machine Learning</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c>
                  <a:txBody>
                    <a:bodyPr anchor="t" rtlCol="false"/>
                    <a:lstStyle/>
                    <a:p>
                      <a:pPr algn="l">
                        <a:lnSpc>
                          <a:spcPts val="3060"/>
                        </a:lnSpc>
                        <a:defRPr/>
                      </a:pPr>
                      <a:r>
                        <a:rPr lang="en-US" sz="2550" spc="-14">
                          <a:solidFill>
                            <a:srgbClr val="000000"/>
                          </a:solidFill>
                          <a:latin typeface="Times New Roman"/>
                          <a:ea typeface="Times New Roman"/>
                          <a:cs typeface="Times New Roman"/>
                          <a:sym typeface="Times New Roman"/>
                        </a:rPr>
                        <a:t>Scikit-learn</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c>
                  <a:txBody>
                    <a:bodyPr anchor="t" rtlCol="false"/>
                    <a:lstStyle/>
                    <a:p>
                      <a:pPr algn="l">
                        <a:lnSpc>
                          <a:spcPts val="3060"/>
                        </a:lnSpc>
                        <a:defRPr/>
                      </a:pPr>
                      <a:r>
                        <a:rPr lang="en-US" sz="2550" spc="-14">
                          <a:solidFill>
                            <a:srgbClr val="000000"/>
                          </a:solidFill>
                          <a:latin typeface="Times New Roman"/>
                          <a:ea typeface="Times New Roman"/>
                          <a:cs typeface="Times New Roman"/>
                          <a:sym typeface="Times New Roman"/>
                        </a:rPr>
                        <a:t>Complaint classification and model evaluation</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004735"/>
            <a:ext cx="18288000" cy="1282265"/>
            <a:chOff x="0" y="0"/>
            <a:chExt cx="24384000" cy="1709687"/>
          </a:xfrm>
        </p:grpSpPr>
        <p:sp>
          <p:nvSpPr>
            <p:cNvPr name="Freeform 3" id="3"/>
            <p:cNvSpPr/>
            <p:nvPr/>
          </p:nvSpPr>
          <p:spPr>
            <a:xfrm flipH="false" flipV="false" rot="0">
              <a:off x="0" y="0"/>
              <a:ext cx="24384000" cy="1709674"/>
            </a:xfrm>
            <a:custGeom>
              <a:avLst/>
              <a:gdLst/>
              <a:ahLst/>
              <a:cxnLst/>
              <a:rect r="r" b="b" t="t" l="l"/>
              <a:pathLst>
                <a:path h="1709674" w="24384000">
                  <a:moveTo>
                    <a:pt x="0" y="0"/>
                  </a:moveTo>
                  <a:lnTo>
                    <a:pt x="24384000" y="0"/>
                  </a:lnTo>
                  <a:lnTo>
                    <a:pt x="24384000" y="1709674"/>
                  </a:lnTo>
                  <a:lnTo>
                    <a:pt x="0" y="1709674"/>
                  </a:lnTo>
                  <a:lnTo>
                    <a:pt x="0" y="0"/>
                  </a:lnTo>
                  <a:close/>
                </a:path>
              </a:pathLst>
            </a:custGeom>
            <a:blipFill>
              <a:blip r:embed="rId2"/>
              <a:stretch>
                <a:fillRect l="0" t="-61304" r="0" b="-61305"/>
              </a:stretch>
            </a:blipFill>
          </p:spPr>
        </p:sp>
      </p:grpSp>
      <p:sp>
        <p:nvSpPr>
          <p:cNvPr name="TextBox 4" id="4" descr="$PPTXTitle"/>
          <p:cNvSpPr txBox="true"/>
          <p:nvPr/>
        </p:nvSpPr>
        <p:spPr>
          <a:xfrm rot="0">
            <a:off x="1268701" y="434111"/>
            <a:ext cx="10176881" cy="645328"/>
          </a:xfrm>
          <a:prstGeom prst="rect">
            <a:avLst/>
          </a:prstGeom>
        </p:spPr>
        <p:txBody>
          <a:bodyPr anchor="t" rtlCol="false" tIns="0" lIns="0" bIns="0" rIns="0">
            <a:spAutoFit/>
          </a:bodyPr>
          <a:lstStyle/>
          <a:p>
            <a:pPr algn="l">
              <a:lnSpc>
                <a:spcPts val="4770"/>
              </a:lnSpc>
            </a:pPr>
            <a:r>
              <a:rPr lang="en-US" sz="3975">
                <a:solidFill>
                  <a:srgbClr val="17365D"/>
                </a:solidFill>
                <a:latin typeface="Cambria"/>
                <a:ea typeface="Cambria"/>
                <a:cs typeface="Cambria"/>
                <a:sym typeface="Cambria"/>
              </a:rPr>
              <a:t>Analysis of Problem Statement (contd...)</a:t>
            </a:r>
          </a:p>
        </p:txBody>
      </p:sp>
      <p:graphicFrame>
        <p:nvGraphicFramePr>
          <p:cNvPr name="Table 5" id="5"/>
          <p:cNvGraphicFramePr>
            <a:graphicFrameLocks noGrp="true"/>
          </p:cNvGraphicFramePr>
          <p:nvPr/>
        </p:nvGraphicFramePr>
        <p:xfrm>
          <a:off x="1209675" y="1590675"/>
          <a:ext cx="15811500" cy="7372350"/>
        </p:xfrm>
        <a:graphic>
          <a:graphicData uri="http://schemas.openxmlformats.org/drawingml/2006/table">
            <a:tbl>
              <a:tblPr/>
              <a:tblGrid>
                <a:gridCol w="3688375"/>
                <a:gridCol w="6017676"/>
                <a:gridCol w="6105449"/>
              </a:tblGrid>
              <a:tr h="1135948">
                <a:tc>
                  <a:txBody>
                    <a:bodyPr anchor="t" rtlCol="false"/>
                    <a:lstStyle/>
                    <a:p>
                      <a:pPr algn="l">
                        <a:lnSpc>
                          <a:spcPts val="3060"/>
                        </a:lnSpc>
                        <a:defRPr/>
                      </a:pPr>
                      <a:r>
                        <a:rPr lang="en-US" b="true" sz="2550" spc="-14">
                          <a:solidFill>
                            <a:srgbClr val="FFFFFF"/>
                          </a:solidFill>
                          <a:latin typeface="Times New Roman Bold"/>
                          <a:ea typeface="Times New Roman Bold"/>
                          <a:cs typeface="Times New Roman Bold"/>
                          <a:sym typeface="Times New Roman Bold"/>
                        </a:rPr>
                        <a:t>Component</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F81BD"/>
                    </a:solidFill>
                  </a:tcPr>
                </a:tc>
                <a:tc>
                  <a:txBody>
                    <a:bodyPr anchor="t" rtlCol="false"/>
                    <a:lstStyle/>
                    <a:p>
                      <a:pPr algn="l">
                        <a:lnSpc>
                          <a:spcPts val="3060"/>
                        </a:lnSpc>
                        <a:defRPr/>
                      </a:pPr>
                      <a:r>
                        <a:rPr lang="en-US" b="true" sz="2550" spc="-14">
                          <a:solidFill>
                            <a:srgbClr val="FFFFFF"/>
                          </a:solidFill>
                          <a:latin typeface="Times New Roman Bold"/>
                          <a:ea typeface="Times New Roman Bold"/>
                          <a:cs typeface="Times New Roman Bold"/>
                          <a:sym typeface="Times New Roman Bold"/>
                        </a:rPr>
                        <a:t>Technology</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F81BD"/>
                    </a:solidFill>
                  </a:tcPr>
                </a:tc>
                <a:tc>
                  <a:txBody>
                    <a:bodyPr anchor="t" rtlCol="false"/>
                    <a:lstStyle/>
                    <a:p>
                      <a:pPr algn="l">
                        <a:lnSpc>
                          <a:spcPts val="3060"/>
                        </a:lnSpc>
                        <a:defRPr/>
                      </a:pPr>
                      <a:r>
                        <a:rPr lang="en-US" b="true" sz="2550" spc="-14">
                          <a:solidFill>
                            <a:srgbClr val="FFFFFF"/>
                          </a:solidFill>
                          <a:latin typeface="Times New Roman Bold"/>
                          <a:ea typeface="Times New Roman Bold"/>
                          <a:cs typeface="Times New Roman Bold"/>
                          <a:sym typeface="Times New Roman Bold"/>
                        </a:rPr>
                        <a:t>Purpose</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F81BD"/>
                    </a:solidFill>
                  </a:tcPr>
                </a:tc>
              </a:tr>
              <a:tr h="1054486">
                <a:tc>
                  <a:txBody>
                    <a:bodyPr anchor="t" rtlCol="false"/>
                    <a:lstStyle/>
                    <a:p>
                      <a:pPr algn="l">
                        <a:lnSpc>
                          <a:spcPts val="3060"/>
                        </a:lnSpc>
                        <a:defRPr/>
                      </a:pPr>
                      <a:endParaRPr lang="en-US" sz="1100"/>
                    </a:p>
                    <a:p>
                      <a:pPr algn="l">
                        <a:lnSpc>
                          <a:spcPts val="3060"/>
                        </a:lnSpc>
                      </a:pPr>
                      <a:r>
                        <a:rPr lang="en-US" sz="2550" spc="-14">
                          <a:solidFill>
                            <a:srgbClr val="000000"/>
                          </a:solidFill>
                          <a:latin typeface="Times New Roman"/>
                          <a:ea typeface="Times New Roman"/>
                          <a:cs typeface="Times New Roman"/>
                          <a:sym typeface="Times New Roman"/>
                        </a:rPr>
                        <a:t>Database</a:t>
                      </a:r>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c>
                  <a:txBody>
                    <a:bodyPr anchor="t" rtlCol="false"/>
                    <a:lstStyle/>
                    <a:p>
                      <a:pPr algn="l">
                        <a:lnSpc>
                          <a:spcPts val="3060"/>
                        </a:lnSpc>
                        <a:defRPr/>
                      </a:pPr>
                      <a:endParaRPr lang="en-US" sz="1100"/>
                    </a:p>
                    <a:p>
                      <a:pPr algn="l">
                        <a:lnSpc>
                          <a:spcPts val="3060"/>
                        </a:lnSpc>
                      </a:pPr>
                      <a:r>
                        <a:rPr lang="en-US" sz="2550" spc="-14">
                          <a:solidFill>
                            <a:srgbClr val="000000"/>
                          </a:solidFill>
                          <a:latin typeface="Times New Roman"/>
                          <a:ea typeface="Times New Roman"/>
                          <a:cs typeface="Times New Roman"/>
                          <a:sym typeface="Times New Roman"/>
                        </a:rPr>
                        <a:t>MongoDB</a:t>
                      </a:r>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c>
                  <a:txBody>
                    <a:bodyPr anchor="t" rtlCol="false"/>
                    <a:lstStyle/>
                    <a:p>
                      <a:pPr algn="l">
                        <a:lnSpc>
                          <a:spcPts val="3060"/>
                        </a:lnSpc>
                        <a:defRPr/>
                      </a:pPr>
                      <a:endParaRPr lang="en-US" sz="1100"/>
                    </a:p>
                    <a:p>
                      <a:pPr algn="l">
                        <a:lnSpc>
                          <a:spcPts val="3060"/>
                        </a:lnSpc>
                      </a:pPr>
                      <a:r>
                        <a:rPr lang="en-US" sz="2550">
                          <a:solidFill>
                            <a:srgbClr val="000000"/>
                          </a:solidFill>
                          <a:latin typeface="Times New Roman"/>
                          <a:ea typeface="Times New Roman"/>
                          <a:cs typeface="Times New Roman"/>
                          <a:sym typeface="Times New Roman"/>
                        </a:rPr>
                        <a:t>Store citizen feedback and analysis results</a:t>
                      </a:r>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r>
              <a:tr h="1036383">
                <a:tc>
                  <a:txBody>
                    <a:bodyPr anchor="t" rtlCol="false"/>
                    <a:lstStyle/>
                    <a:p>
                      <a:pPr algn="l">
                        <a:lnSpc>
                          <a:spcPts val="3060"/>
                        </a:lnSpc>
                        <a:defRPr/>
                      </a:pPr>
                      <a:r>
                        <a:rPr lang="en-US" sz="2550" spc="-14">
                          <a:solidFill>
                            <a:srgbClr val="000000"/>
                          </a:solidFill>
                          <a:latin typeface="Times New Roman"/>
                          <a:ea typeface="Times New Roman"/>
                          <a:cs typeface="Times New Roman"/>
                          <a:sym typeface="Times New Roman"/>
                        </a:rPr>
                        <a:t>Data Processing</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c>
                  <a:txBody>
                    <a:bodyPr anchor="t" rtlCol="false"/>
                    <a:lstStyle/>
                    <a:p>
                      <a:pPr algn="l">
                        <a:lnSpc>
                          <a:spcPts val="3060"/>
                        </a:lnSpc>
                        <a:defRPr/>
                      </a:pPr>
                      <a:r>
                        <a:rPr lang="en-US" sz="2550">
                          <a:solidFill>
                            <a:srgbClr val="000000"/>
                          </a:solidFill>
                          <a:latin typeface="Times New Roman"/>
                          <a:ea typeface="Times New Roman"/>
                          <a:cs typeface="Times New Roman"/>
                          <a:sym typeface="Times New Roman"/>
                        </a:rPr>
                        <a:t>Pandas, NumPy</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c>
                  <a:txBody>
                    <a:bodyPr anchor="t" rtlCol="false"/>
                    <a:lstStyle/>
                    <a:p>
                      <a:pPr algn="l">
                        <a:lnSpc>
                          <a:spcPts val="3060"/>
                        </a:lnSpc>
                        <a:defRPr/>
                      </a:pPr>
                      <a:r>
                        <a:rPr lang="en-US" sz="2550">
                          <a:solidFill>
                            <a:srgbClr val="000000"/>
                          </a:solidFill>
                          <a:latin typeface="Times New Roman"/>
                          <a:ea typeface="Times New Roman"/>
                          <a:cs typeface="Times New Roman"/>
                          <a:sym typeface="Times New Roman"/>
                        </a:rPr>
                        <a:t>Data cleaning and manipulation</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r>
              <a:tr h="1036383">
                <a:tc>
                  <a:txBody>
                    <a:bodyPr anchor="t" rtlCol="false"/>
                    <a:lstStyle/>
                    <a:p>
                      <a:pPr algn="l">
                        <a:lnSpc>
                          <a:spcPts val="3060"/>
                        </a:lnSpc>
                        <a:defRPr/>
                      </a:pPr>
                      <a:r>
                        <a:rPr lang="en-US" sz="2550" spc="-14">
                          <a:solidFill>
                            <a:srgbClr val="000000"/>
                          </a:solidFill>
                          <a:latin typeface="Times New Roman"/>
                          <a:ea typeface="Times New Roman"/>
                          <a:cs typeface="Times New Roman"/>
                          <a:sym typeface="Times New Roman"/>
                        </a:rPr>
                        <a:t>Visualization</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c>
                  <a:txBody>
                    <a:bodyPr anchor="t" rtlCol="false"/>
                    <a:lstStyle/>
                    <a:p>
                      <a:pPr algn="l">
                        <a:lnSpc>
                          <a:spcPts val="3060"/>
                        </a:lnSpc>
                        <a:defRPr/>
                      </a:pPr>
                      <a:r>
                        <a:rPr lang="en-US" sz="2550" spc="-14">
                          <a:solidFill>
                            <a:srgbClr val="000000"/>
                          </a:solidFill>
                          <a:latin typeface="Times New Roman"/>
                          <a:ea typeface="Times New Roman"/>
                          <a:cs typeface="Times New Roman"/>
                          <a:sym typeface="Times New Roman"/>
                        </a:rPr>
                        <a:t>Plotly, Matplotlib</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c>
                  <a:txBody>
                    <a:bodyPr anchor="t" rtlCol="false"/>
                    <a:lstStyle/>
                    <a:p>
                      <a:pPr algn="l">
                        <a:lnSpc>
                          <a:spcPts val="3060"/>
                        </a:lnSpc>
                        <a:defRPr/>
                      </a:pPr>
                      <a:r>
                        <a:rPr lang="en-US" sz="2550">
                          <a:solidFill>
                            <a:srgbClr val="000000"/>
                          </a:solidFill>
                          <a:latin typeface="Times New Roman"/>
                          <a:ea typeface="Times New Roman"/>
                          <a:cs typeface="Times New Roman"/>
                          <a:sym typeface="Times New Roman"/>
                        </a:rPr>
                        <a:t>Graphs, charts, and analytics</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r>
              <a:tr h="1036383">
                <a:tc>
                  <a:txBody>
                    <a:bodyPr anchor="t" rtlCol="false"/>
                    <a:lstStyle/>
                    <a:p>
                      <a:pPr algn="r">
                        <a:lnSpc>
                          <a:spcPts val="3060"/>
                        </a:lnSpc>
                        <a:defRPr/>
                      </a:pPr>
                      <a:r>
                        <a:rPr lang="en-US" sz="2550">
                          <a:solidFill>
                            <a:srgbClr val="000000"/>
                          </a:solidFill>
                          <a:latin typeface="Times New Roman"/>
                          <a:ea typeface="Times New Roman"/>
                          <a:cs typeface="Times New Roman"/>
                          <a:sym typeface="Times New Roman"/>
                        </a:rPr>
                        <a:t>Development Environment</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c>
                  <a:txBody>
                    <a:bodyPr anchor="t" rtlCol="false"/>
                    <a:lstStyle/>
                    <a:p>
                      <a:pPr algn="l">
                        <a:lnSpc>
                          <a:spcPts val="3060"/>
                        </a:lnSpc>
                        <a:defRPr/>
                      </a:pPr>
                      <a:r>
                        <a:rPr lang="en-US" sz="2550">
                          <a:solidFill>
                            <a:srgbClr val="000000"/>
                          </a:solidFill>
                          <a:latin typeface="Times New Roman"/>
                          <a:ea typeface="Times New Roman"/>
                          <a:cs typeface="Times New Roman"/>
                          <a:sym typeface="Times New Roman"/>
                        </a:rPr>
                        <a:t>Jupyter Notebook, VS Code</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c>
                  <a:txBody>
                    <a:bodyPr anchor="t" rtlCol="false"/>
                    <a:lstStyle/>
                    <a:p>
                      <a:pPr algn="l">
                        <a:lnSpc>
                          <a:spcPts val="3060"/>
                        </a:lnSpc>
                        <a:defRPr/>
                      </a:pPr>
                      <a:r>
                        <a:rPr lang="en-US" sz="2550">
                          <a:solidFill>
                            <a:srgbClr val="000000"/>
                          </a:solidFill>
                          <a:latin typeface="Times New Roman"/>
                          <a:ea typeface="Times New Roman"/>
                          <a:cs typeface="Times New Roman"/>
                          <a:sym typeface="Times New Roman"/>
                        </a:rPr>
                        <a:t>Model development and coding</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r>
              <a:tr h="1036383">
                <a:tc>
                  <a:txBody>
                    <a:bodyPr anchor="t" rtlCol="false"/>
                    <a:lstStyle/>
                    <a:p>
                      <a:pPr algn="l">
                        <a:lnSpc>
                          <a:spcPts val="3060"/>
                        </a:lnSpc>
                        <a:defRPr/>
                      </a:pPr>
                      <a:r>
                        <a:rPr lang="en-US" sz="2550" spc="-14">
                          <a:solidFill>
                            <a:srgbClr val="000000"/>
                          </a:solidFill>
                          <a:latin typeface="Times New Roman"/>
                          <a:ea typeface="Times New Roman"/>
                          <a:cs typeface="Times New Roman"/>
                          <a:sym typeface="Times New Roman"/>
                        </a:rPr>
                        <a:t>Version Control</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c>
                  <a:txBody>
                    <a:bodyPr anchor="t" rtlCol="false"/>
                    <a:lstStyle/>
                    <a:p>
                      <a:pPr algn="l">
                        <a:lnSpc>
                          <a:spcPts val="3060"/>
                        </a:lnSpc>
                        <a:defRPr/>
                      </a:pPr>
                      <a:r>
                        <a:rPr lang="en-US" sz="2550" spc="-14">
                          <a:solidFill>
                            <a:srgbClr val="000000"/>
                          </a:solidFill>
                          <a:latin typeface="Times New Roman"/>
                          <a:ea typeface="Times New Roman"/>
                          <a:cs typeface="Times New Roman"/>
                          <a:sym typeface="Times New Roman"/>
                        </a:rPr>
                        <a:t>Git &amp; GitHub</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c>
                  <a:txBody>
                    <a:bodyPr anchor="t" rtlCol="false"/>
                    <a:lstStyle/>
                    <a:p>
                      <a:pPr algn="l">
                        <a:lnSpc>
                          <a:spcPts val="3060"/>
                        </a:lnSpc>
                        <a:defRPr/>
                      </a:pPr>
                      <a:r>
                        <a:rPr lang="en-US" sz="2550">
                          <a:solidFill>
                            <a:srgbClr val="000000"/>
                          </a:solidFill>
                          <a:latin typeface="Times New Roman"/>
                          <a:ea typeface="Times New Roman"/>
                          <a:cs typeface="Times New Roman"/>
                          <a:sym typeface="Times New Roman"/>
                        </a:rPr>
                        <a:t>Source code management and collaboration</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7E7"/>
                    </a:solidFill>
                  </a:tcPr>
                </a:tc>
              </a:tr>
              <a:tr h="1036383">
                <a:tc>
                  <a:txBody>
                    <a:bodyPr anchor="t" rtlCol="false"/>
                    <a:lstStyle/>
                    <a:p>
                      <a:pPr algn="r">
                        <a:lnSpc>
                          <a:spcPts val="3060"/>
                        </a:lnSpc>
                        <a:defRPr/>
                      </a:pPr>
                      <a:r>
                        <a:rPr lang="en-US" sz="2550">
                          <a:solidFill>
                            <a:srgbClr val="000000"/>
                          </a:solidFill>
                          <a:latin typeface="Times New Roman"/>
                          <a:ea typeface="Times New Roman"/>
                          <a:cs typeface="Times New Roman"/>
                          <a:sym typeface="Times New Roman"/>
                        </a:rPr>
                        <a:t>Deployment (Optional)</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c>
                  <a:txBody>
                    <a:bodyPr anchor="t" rtlCol="false"/>
                    <a:lstStyle/>
                    <a:p>
                      <a:pPr algn="l">
                        <a:lnSpc>
                          <a:spcPts val="3060"/>
                        </a:lnSpc>
                        <a:defRPr/>
                      </a:pPr>
                      <a:r>
                        <a:rPr lang="en-US" sz="2550">
                          <a:solidFill>
                            <a:srgbClr val="000000"/>
                          </a:solidFill>
                          <a:latin typeface="Times New Roman"/>
                          <a:ea typeface="Times New Roman"/>
                          <a:cs typeface="Times New Roman"/>
                          <a:sym typeface="Times New Roman"/>
                        </a:rPr>
                        <a:t>Render / Railway / Streamlit Cloud</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c>
                  <a:txBody>
                    <a:bodyPr anchor="t" rtlCol="false"/>
                    <a:lstStyle/>
                    <a:p>
                      <a:pPr algn="l">
                        <a:lnSpc>
                          <a:spcPts val="3060"/>
                        </a:lnSpc>
                        <a:defRPr/>
                      </a:pPr>
                      <a:r>
                        <a:rPr lang="en-US" sz="2550">
                          <a:solidFill>
                            <a:srgbClr val="000000"/>
                          </a:solidFill>
                          <a:latin typeface="Times New Roman"/>
                          <a:ea typeface="Times New Roman"/>
                          <a:cs typeface="Times New Roman"/>
                          <a:sym typeface="Times New Roman"/>
                        </a:rPr>
                        <a:t>Deploy the web application</a:t>
                      </a:r>
                      <a:endParaRPr lang="en-US" sz="1100"/>
                    </a:p>
                  </a:txBody>
                  <a:tcPr marL="0" marR="0" marT="0" marB="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8ECF4"/>
                    </a:solidFill>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80932" y="7482786"/>
            <a:ext cx="10717647" cy="3051880"/>
            <a:chOff x="0" y="0"/>
            <a:chExt cx="12144870" cy="3458286"/>
          </a:xfrm>
        </p:grpSpPr>
        <p:sp>
          <p:nvSpPr>
            <p:cNvPr name="Freeform 3" id="3"/>
            <p:cNvSpPr/>
            <p:nvPr/>
          </p:nvSpPr>
          <p:spPr>
            <a:xfrm flipH="false" flipV="false" rot="0">
              <a:off x="0" y="0"/>
              <a:ext cx="12144883" cy="3458337"/>
            </a:xfrm>
            <a:custGeom>
              <a:avLst/>
              <a:gdLst/>
              <a:ahLst/>
              <a:cxnLst/>
              <a:rect r="r" b="b" t="t" l="l"/>
              <a:pathLst>
                <a:path h="3458337" w="12144883">
                  <a:moveTo>
                    <a:pt x="0" y="0"/>
                  </a:moveTo>
                  <a:lnTo>
                    <a:pt x="12144883" y="0"/>
                  </a:lnTo>
                  <a:lnTo>
                    <a:pt x="12144883" y="3458337"/>
                  </a:lnTo>
                  <a:lnTo>
                    <a:pt x="0" y="3458337"/>
                  </a:lnTo>
                  <a:lnTo>
                    <a:pt x="0" y="0"/>
                  </a:lnTo>
                  <a:close/>
                </a:path>
              </a:pathLst>
            </a:custGeom>
            <a:blipFill>
              <a:blip r:embed="rId2"/>
              <a:stretch>
                <a:fillRect l="0" t="0" r="0" b="1"/>
              </a:stretch>
            </a:blipFill>
          </p:spPr>
        </p:sp>
      </p:grpSp>
      <p:grpSp>
        <p:nvGrpSpPr>
          <p:cNvPr name="Group 4" id="4"/>
          <p:cNvGrpSpPr/>
          <p:nvPr/>
        </p:nvGrpSpPr>
        <p:grpSpPr>
          <a:xfrm rot="0">
            <a:off x="3959342" y="414746"/>
            <a:ext cx="10918450" cy="6882164"/>
            <a:chOff x="0" y="0"/>
            <a:chExt cx="12627983" cy="7959725"/>
          </a:xfrm>
        </p:grpSpPr>
        <p:sp>
          <p:nvSpPr>
            <p:cNvPr name="Freeform 5" id="5"/>
            <p:cNvSpPr/>
            <p:nvPr/>
          </p:nvSpPr>
          <p:spPr>
            <a:xfrm flipH="false" flipV="false" rot="0">
              <a:off x="0" y="0"/>
              <a:ext cx="12627996" cy="7959725"/>
            </a:xfrm>
            <a:custGeom>
              <a:avLst/>
              <a:gdLst/>
              <a:ahLst/>
              <a:cxnLst/>
              <a:rect r="r" b="b" t="t" l="l"/>
              <a:pathLst>
                <a:path h="7959725" w="12627996">
                  <a:moveTo>
                    <a:pt x="0" y="0"/>
                  </a:moveTo>
                  <a:lnTo>
                    <a:pt x="12627996" y="0"/>
                  </a:lnTo>
                  <a:lnTo>
                    <a:pt x="12627996" y="7959725"/>
                  </a:lnTo>
                  <a:lnTo>
                    <a:pt x="0" y="7959725"/>
                  </a:lnTo>
                  <a:lnTo>
                    <a:pt x="0" y="0"/>
                  </a:lnTo>
                  <a:close/>
                </a:path>
              </a:pathLst>
            </a:custGeom>
            <a:blipFill>
              <a:blip r:embed="rId3"/>
              <a:stretch>
                <a:fillRect l="0" t="-1989" r="0" b="-1989"/>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004735"/>
            <a:ext cx="18288000" cy="1282265"/>
            <a:chOff x="0" y="0"/>
            <a:chExt cx="24384000" cy="1709687"/>
          </a:xfrm>
        </p:grpSpPr>
        <p:sp>
          <p:nvSpPr>
            <p:cNvPr name="Freeform 3" id="3"/>
            <p:cNvSpPr/>
            <p:nvPr/>
          </p:nvSpPr>
          <p:spPr>
            <a:xfrm flipH="false" flipV="false" rot="0">
              <a:off x="0" y="0"/>
              <a:ext cx="24384000" cy="1709674"/>
            </a:xfrm>
            <a:custGeom>
              <a:avLst/>
              <a:gdLst/>
              <a:ahLst/>
              <a:cxnLst/>
              <a:rect r="r" b="b" t="t" l="l"/>
              <a:pathLst>
                <a:path h="1709674" w="24384000">
                  <a:moveTo>
                    <a:pt x="0" y="0"/>
                  </a:moveTo>
                  <a:lnTo>
                    <a:pt x="24384000" y="0"/>
                  </a:lnTo>
                  <a:lnTo>
                    <a:pt x="24384000" y="1709674"/>
                  </a:lnTo>
                  <a:lnTo>
                    <a:pt x="0" y="1709674"/>
                  </a:lnTo>
                  <a:lnTo>
                    <a:pt x="0" y="0"/>
                  </a:lnTo>
                  <a:close/>
                </a:path>
              </a:pathLst>
            </a:custGeom>
            <a:blipFill>
              <a:blip r:embed="rId2"/>
              <a:stretch>
                <a:fillRect l="0" t="-61304" r="0" b="-61305"/>
              </a:stretch>
            </a:blipFill>
          </p:spPr>
        </p:sp>
      </p:grpSp>
      <p:sp>
        <p:nvSpPr>
          <p:cNvPr name="TextBox 4" id="4" descr="$PPTXTitle"/>
          <p:cNvSpPr txBox="true"/>
          <p:nvPr/>
        </p:nvSpPr>
        <p:spPr>
          <a:xfrm rot="0">
            <a:off x="1268701" y="434111"/>
            <a:ext cx="7873157" cy="609600"/>
          </a:xfrm>
          <a:prstGeom prst="rect">
            <a:avLst/>
          </a:prstGeom>
        </p:spPr>
        <p:txBody>
          <a:bodyPr anchor="t" rtlCol="false" tIns="0" lIns="0" bIns="0" rIns="0">
            <a:spAutoFit/>
          </a:bodyPr>
          <a:lstStyle/>
          <a:p>
            <a:pPr algn="l">
              <a:lnSpc>
                <a:spcPts val="4770"/>
              </a:lnSpc>
            </a:pPr>
            <a:r>
              <a:rPr lang="en-US" sz="3975">
                <a:solidFill>
                  <a:srgbClr val="17365D"/>
                </a:solidFill>
                <a:latin typeface="Cambria"/>
                <a:ea typeface="Cambria"/>
                <a:cs typeface="Cambria"/>
                <a:sym typeface="Cambria"/>
              </a:rPr>
              <a:t>Timeline of the Project (Gantt Chart)</a:t>
            </a:r>
          </a:p>
        </p:txBody>
      </p:sp>
      <p:grpSp>
        <p:nvGrpSpPr>
          <p:cNvPr name="Group 5" id="5"/>
          <p:cNvGrpSpPr/>
          <p:nvPr/>
        </p:nvGrpSpPr>
        <p:grpSpPr>
          <a:xfrm rot="0">
            <a:off x="4642485" y="1668542"/>
            <a:ext cx="9418149" cy="7063607"/>
            <a:chOff x="0" y="0"/>
            <a:chExt cx="12557531" cy="9418142"/>
          </a:xfrm>
        </p:grpSpPr>
        <p:sp>
          <p:nvSpPr>
            <p:cNvPr name="Freeform 6" id="6"/>
            <p:cNvSpPr/>
            <p:nvPr/>
          </p:nvSpPr>
          <p:spPr>
            <a:xfrm flipH="false" flipV="false" rot="0">
              <a:off x="0" y="0"/>
              <a:ext cx="12557506" cy="9418193"/>
            </a:xfrm>
            <a:custGeom>
              <a:avLst/>
              <a:gdLst/>
              <a:ahLst/>
              <a:cxnLst/>
              <a:rect r="r" b="b" t="t" l="l"/>
              <a:pathLst>
                <a:path h="9418193" w="12557506">
                  <a:moveTo>
                    <a:pt x="0" y="0"/>
                  </a:moveTo>
                  <a:lnTo>
                    <a:pt x="12557506" y="0"/>
                  </a:lnTo>
                  <a:lnTo>
                    <a:pt x="12557506" y="9418193"/>
                  </a:lnTo>
                  <a:lnTo>
                    <a:pt x="0" y="9418193"/>
                  </a:lnTo>
                  <a:lnTo>
                    <a:pt x="0" y="0"/>
                  </a:lnTo>
                  <a:close/>
                </a:path>
              </a:pathLst>
            </a:custGeom>
            <a:blipFill>
              <a:blip r:embed="rId3"/>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descr="$PPTXTitle"/>
          <p:cNvSpPr txBox="true"/>
          <p:nvPr/>
        </p:nvSpPr>
        <p:spPr>
          <a:xfrm rot="0">
            <a:off x="779736" y="134486"/>
            <a:ext cx="10176881" cy="644061"/>
          </a:xfrm>
          <a:prstGeom prst="rect">
            <a:avLst/>
          </a:prstGeom>
        </p:spPr>
        <p:txBody>
          <a:bodyPr anchor="t" rtlCol="false" tIns="0" lIns="0" bIns="0" rIns="0">
            <a:spAutoFit/>
          </a:bodyPr>
          <a:lstStyle/>
          <a:p>
            <a:pPr algn="l">
              <a:lnSpc>
                <a:spcPts val="4770"/>
              </a:lnSpc>
            </a:pPr>
            <a:r>
              <a:rPr lang="en-US" sz="3975">
                <a:solidFill>
                  <a:srgbClr val="17365D"/>
                </a:solidFill>
                <a:latin typeface="Cambria"/>
                <a:ea typeface="Cambria"/>
                <a:cs typeface="Cambria"/>
                <a:sym typeface="Cambria"/>
              </a:rPr>
              <a:t>References (IEEE Paper format)</a:t>
            </a:r>
          </a:p>
        </p:txBody>
      </p:sp>
      <p:sp>
        <p:nvSpPr>
          <p:cNvPr name="TextBox 3" id="3"/>
          <p:cNvSpPr txBox="true"/>
          <p:nvPr/>
        </p:nvSpPr>
        <p:spPr>
          <a:xfrm rot="0">
            <a:off x="460028" y="1050874"/>
            <a:ext cx="17589708" cy="8283336"/>
          </a:xfrm>
          <a:prstGeom prst="rect">
            <a:avLst/>
          </a:prstGeom>
        </p:spPr>
        <p:txBody>
          <a:bodyPr anchor="t" rtlCol="false" tIns="0" lIns="0" bIns="0" rIns="0">
            <a:spAutoFit/>
          </a:bodyPr>
          <a:lstStyle/>
          <a:p>
            <a:pPr algn="l" marL="595905" indent="-297952" lvl="1">
              <a:lnSpc>
                <a:spcPts val="3893"/>
              </a:lnSpc>
              <a:buFont typeface="Arial"/>
              <a:buChar char="•"/>
            </a:pPr>
            <a:r>
              <a:rPr lang="en-US" sz="3200">
                <a:solidFill>
                  <a:srgbClr val="000000"/>
                </a:solidFill>
                <a:latin typeface="Times New Roman"/>
                <a:ea typeface="Times New Roman"/>
                <a:cs typeface="Times New Roman"/>
                <a:sym typeface="Times New Roman"/>
              </a:rPr>
              <a:t>Sarvestani, M. (2025). </a:t>
            </a:r>
            <a:r>
              <a:rPr lang="en-US" sz="3200" i="true">
                <a:solidFill>
                  <a:srgbClr val="000000"/>
                </a:solidFill>
                <a:latin typeface="Times New Roman Italics"/>
                <a:ea typeface="Times New Roman Italics"/>
                <a:cs typeface="Times New Roman Italics"/>
                <a:sym typeface="Times New Roman Italics"/>
              </a:rPr>
              <a:t>An NLP-based framework for sentiment and topic analysis of citizen feedback on U.K. government mobile applications</a:t>
            </a:r>
            <a:r>
              <a:rPr lang="en-US" sz="3200">
                <a:solidFill>
                  <a:srgbClr val="000000"/>
                </a:solidFill>
                <a:latin typeface="Times New Roman"/>
                <a:ea typeface="Times New Roman"/>
                <a:cs typeface="Times New Roman"/>
                <a:sym typeface="Times New Roman"/>
              </a:rPr>
              <a:t>. </a:t>
            </a:r>
            <a:r>
              <a:rPr lang="en-US" sz="3200" i="true">
                <a:solidFill>
                  <a:srgbClr val="000000"/>
                </a:solidFill>
                <a:latin typeface="Times New Roman Italics"/>
                <a:ea typeface="Times New Roman Italics"/>
                <a:cs typeface="Times New Roman Italics"/>
                <a:sym typeface="Times New Roman Italics"/>
              </a:rPr>
              <a:t>IEEE Access, 13</a:t>
            </a:r>
            <a:r>
              <a:rPr lang="en-US" sz="3200">
                <a:solidFill>
                  <a:srgbClr val="000000"/>
                </a:solidFill>
                <a:latin typeface="Times New Roman"/>
                <a:ea typeface="Times New Roman"/>
                <a:cs typeface="Times New Roman"/>
                <a:sym typeface="Times New Roman"/>
              </a:rPr>
              <a:t>, 210360–210377.</a:t>
            </a:r>
          </a:p>
          <a:p>
            <a:pPr algn="l">
              <a:lnSpc>
                <a:spcPts val="3840"/>
              </a:lnSpc>
            </a:pPr>
            <a:r>
              <a:rPr lang="en-US" sz="3200" spc="-13">
                <a:solidFill>
                  <a:srgbClr val="000000"/>
                </a:solidFill>
                <a:latin typeface="Times New Roman"/>
                <a:ea typeface="Times New Roman"/>
                <a:cs typeface="Times New Roman"/>
                <a:sym typeface="Times New Roman"/>
              </a:rPr>
              <a:t>     </a:t>
            </a:r>
            <a:r>
              <a:rPr lang="en-US" sz="3200" i="true" spc="-13" u="sng">
                <a:solidFill>
                  <a:srgbClr val="0000FF"/>
                </a:solidFill>
                <a:latin typeface="Times New Roman Italics"/>
                <a:ea typeface="Times New Roman Italics"/>
                <a:cs typeface="Times New Roman Italics"/>
                <a:sym typeface="Times New Roman Italics"/>
                <a:hlinkClick r:id="rId2" tooltip="https://doi.org/10.1109/ACCESS.2025.3641669"/>
              </a:rPr>
              <a:t>https://doi.org/10.1109/ACCESS.2025.3641669</a:t>
            </a:r>
          </a:p>
          <a:p>
            <a:pPr algn="l" marL="596791" indent="-298395" lvl="1">
              <a:lnSpc>
                <a:spcPts val="3840"/>
              </a:lnSpc>
            </a:pPr>
          </a:p>
          <a:p>
            <a:pPr algn="just" marL="595905" indent="-297952" lvl="1">
              <a:lnSpc>
                <a:spcPts val="3893"/>
              </a:lnSpc>
              <a:buFont typeface="Arial"/>
              <a:buChar char="•"/>
            </a:pPr>
            <a:r>
              <a:rPr lang="en-US" sz="3200" spc="-13">
                <a:solidFill>
                  <a:srgbClr val="000000"/>
                </a:solidFill>
                <a:latin typeface="Times New Roman"/>
                <a:ea typeface="Times New Roman"/>
                <a:cs typeface="Times New Roman"/>
                <a:sym typeface="Times New Roman"/>
              </a:rPr>
              <a:t>Airlangga, M. C., et al. (2023). </a:t>
            </a:r>
            <a:r>
              <a:rPr lang="en-US" sz="3200" i="true" spc="-13">
                <a:solidFill>
                  <a:srgbClr val="000000"/>
                </a:solidFill>
                <a:latin typeface="Times New Roman Italics"/>
                <a:ea typeface="Times New Roman Italics"/>
                <a:cs typeface="Times New Roman Italics"/>
                <a:sym typeface="Times New Roman Italics"/>
              </a:rPr>
              <a:t>Understanding citizen feedback of Jakarta government super app: Leveraging deep learning models</a:t>
            </a:r>
            <a:r>
              <a:rPr lang="en-US" sz="3200" spc="-13">
                <a:solidFill>
                  <a:srgbClr val="000000"/>
                </a:solidFill>
                <a:latin typeface="Times New Roman"/>
                <a:ea typeface="Times New Roman"/>
                <a:cs typeface="Times New Roman"/>
                <a:sym typeface="Times New Roman"/>
              </a:rPr>
              <a:t>. In </a:t>
            </a:r>
            <a:r>
              <a:rPr lang="en-US" sz="3200" i="true" spc="-13">
                <a:solidFill>
                  <a:srgbClr val="000000"/>
                </a:solidFill>
                <a:latin typeface="Times New Roman Italics"/>
                <a:ea typeface="Times New Roman Italics"/>
                <a:cs typeface="Times New Roman Italics"/>
                <a:sym typeface="Times New Roman Italics"/>
              </a:rPr>
              <a:t>2023 IEEE International Smart Cities Conference (ISC2) </a:t>
            </a:r>
            <a:r>
              <a:rPr lang="en-US" sz="3200" spc="-13">
                <a:solidFill>
                  <a:srgbClr val="000000"/>
                </a:solidFill>
                <a:latin typeface="Times New Roman"/>
                <a:ea typeface="Times New Roman"/>
                <a:cs typeface="Times New Roman"/>
                <a:sym typeface="Times New Roman"/>
              </a:rPr>
              <a:t>(pp. 1–6). IEEE.</a:t>
            </a:r>
          </a:p>
          <a:p>
            <a:pPr algn="just">
              <a:lnSpc>
                <a:spcPts val="3840"/>
              </a:lnSpc>
            </a:pPr>
            <a:r>
              <a:rPr lang="en-US" sz="3200" spc="-13">
                <a:solidFill>
                  <a:srgbClr val="000000"/>
                </a:solidFill>
                <a:latin typeface="Times New Roman"/>
                <a:ea typeface="Times New Roman"/>
                <a:cs typeface="Times New Roman"/>
                <a:sym typeface="Times New Roman"/>
              </a:rPr>
              <a:t>      </a:t>
            </a:r>
            <a:r>
              <a:rPr lang="en-US" sz="3200" i="true" spc="-13" u="sng">
                <a:solidFill>
                  <a:srgbClr val="0000FF"/>
                </a:solidFill>
                <a:latin typeface="Times New Roman Italics"/>
                <a:ea typeface="Times New Roman Italics"/>
                <a:cs typeface="Times New Roman Italics"/>
                <a:sym typeface="Times New Roman Italics"/>
                <a:hlinkClick r:id="rId3" tooltip="https://doi.org/10.1109/ISC257844.2023.10293572"/>
              </a:rPr>
              <a:t>https://doi.org/10.1109/ISC257844.2023.10293572</a:t>
            </a:r>
          </a:p>
          <a:p>
            <a:pPr algn="l" marL="596791" indent="-298395" lvl="1">
              <a:lnSpc>
                <a:spcPts val="3840"/>
              </a:lnSpc>
            </a:pPr>
          </a:p>
          <a:p>
            <a:pPr algn="l" marL="595905" indent="-297952" lvl="1">
              <a:lnSpc>
                <a:spcPts val="3893"/>
              </a:lnSpc>
              <a:buFont typeface="Arial"/>
              <a:buChar char="•"/>
            </a:pPr>
            <a:r>
              <a:rPr lang="en-US" sz="3200" spc="-13">
                <a:solidFill>
                  <a:srgbClr val="000000"/>
                </a:solidFill>
                <a:latin typeface="Times New Roman"/>
                <a:ea typeface="Times New Roman"/>
                <a:cs typeface="Times New Roman"/>
                <a:sym typeface="Times New Roman"/>
              </a:rPr>
              <a:t>Alkraiji, A. I. (2020). </a:t>
            </a:r>
            <a:r>
              <a:rPr lang="en-US" sz="3200" i="true" spc="-13">
                <a:solidFill>
                  <a:srgbClr val="000000"/>
                </a:solidFill>
                <a:latin typeface="Times New Roman Italics"/>
                <a:ea typeface="Times New Roman Italics"/>
                <a:cs typeface="Times New Roman Italics"/>
                <a:sym typeface="Times New Roman Italics"/>
              </a:rPr>
              <a:t>Citizen satisfaction with mandatory e-government services: A conceptual framework and an empirical validation</a:t>
            </a:r>
            <a:r>
              <a:rPr lang="en-US" sz="3200" spc="-13">
                <a:solidFill>
                  <a:srgbClr val="000000"/>
                </a:solidFill>
                <a:latin typeface="Times New Roman"/>
                <a:ea typeface="Times New Roman"/>
                <a:cs typeface="Times New Roman"/>
                <a:sym typeface="Times New Roman"/>
              </a:rPr>
              <a:t>. </a:t>
            </a:r>
            <a:r>
              <a:rPr lang="en-US" sz="3200" i="true" spc="-13">
                <a:solidFill>
                  <a:srgbClr val="000000"/>
                </a:solidFill>
                <a:latin typeface="Times New Roman Italics"/>
                <a:ea typeface="Times New Roman Italics"/>
                <a:cs typeface="Times New Roman Italics"/>
                <a:sym typeface="Times New Roman Italics"/>
              </a:rPr>
              <a:t>IEEE Access, 8</a:t>
            </a:r>
            <a:r>
              <a:rPr lang="en-US" sz="3200" spc="-13">
                <a:solidFill>
                  <a:srgbClr val="000000"/>
                </a:solidFill>
                <a:latin typeface="Times New Roman"/>
                <a:ea typeface="Times New Roman"/>
                <a:cs typeface="Times New Roman"/>
                <a:sym typeface="Times New Roman"/>
              </a:rPr>
              <a:t>, 117253–117265.</a:t>
            </a:r>
          </a:p>
          <a:p>
            <a:pPr algn="just">
              <a:lnSpc>
                <a:spcPts val="3840"/>
              </a:lnSpc>
            </a:pPr>
            <a:r>
              <a:rPr lang="en-US" sz="3200" spc="-12">
                <a:solidFill>
                  <a:srgbClr val="000000"/>
                </a:solidFill>
                <a:latin typeface="Times New Roman"/>
                <a:ea typeface="Times New Roman"/>
                <a:cs typeface="Times New Roman"/>
                <a:sym typeface="Times New Roman"/>
              </a:rPr>
              <a:t>      </a:t>
            </a:r>
            <a:r>
              <a:rPr lang="en-US" sz="3200" i="true" spc="-12" u="sng">
                <a:solidFill>
                  <a:srgbClr val="0000FF"/>
                </a:solidFill>
                <a:latin typeface="Times New Roman Italics"/>
                <a:ea typeface="Times New Roman Italics"/>
                <a:cs typeface="Times New Roman Italics"/>
                <a:sym typeface="Times New Roman Italics"/>
                <a:hlinkClick r:id="rId4" tooltip="https://doi.org/10.1109/ACCESS.2020.3004541"/>
              </a:rPr>
              <a:t>https://doi.org/10.1109/ACCESS.2020.3004541</a:t>
            </a:r>
          </a:p>
          <a:p>
            <a:pPr algn="just">
              <a:lnSpc>
                <a:spcPts val="3840"/>
              </a:lnSpc>
            </a:pPr>
          </a:p>
          <a:p>
            <a:pPr algn="l" marL="690881" indent="-345440" lvl="1">
              <a:lnSpc>
                <a:spcPts val="3840"/>
              </a:lnSpc>
              <a:buFont typeface="Arial"/>
              <a:buChar char="•"/>
            </a:pPr>
            <a:r>
              <a:rPr lang="en-US" sz="3200" i="true" spc="-12">
                <a:solidFill>
                  <a:srgbClr val="000000"/>
                </a:solidFill>
                <a:latin typeface="Times New Roman Italics"/>
                <a:ea typeface="Times New Roman Italics"/>
                <a:cs typeface="Times New Roman Italics"/>
                <a:sym typeface="Times New Roman Italics"/>
              </a:rPr>
              <a:t>S. K., A. Ravikurnar, V. R C., A. Reddy D., A. K. M. and S. K.P., "Sentiment Analysis of Indian Languages using Convolutional Neural Networks," 2018 International Conference on Computer Communication and Informatics (ICCCI), Coimbatore, India, 2018, pp. 1-4,</a:t>
            </a:r>
          </a:p>
          <a:p>
            <a:pPr algn="just">
              <a:lnSpc>
                <a:spcPts val="3840"/>
              </a:lnSpc>
            </a:pPr>
            <a:r>
              <a:rPr lang="en-US" sz="3200" i="true" spc="-13" u="sng">
                <a:solidFill>
                  <a:srgbClr val="0000FF"/>
                </a:solidFill>
                <a:latin typeface="Times New Roman Italics"/>
                <a:ea typeface="Times New Roman Italics"/>
                <a:cs typeface="Times New Roman Italics"/>
                <a:sym typeface="Times New Roman Italics"/>
              </a:rPr>
              <a:t>       https://doi.org/ 10.1109/ICCCI.2018.8441371.</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01778" y="542925"/>
            <a:ext cx="17484444" cy="9172575"/>
          </a:xfrm>
          <a:prstGeom prst="rect">
            <a:avLst/>
          </a:prstGeom>
        </p:spPr>
        <p:txBody>
          <a:bodyPr anchor="t" rtlCol="false" tIns="0" lIns="0" bIns="0" rIns="0">
            <a:spAutoFit/>
          </a:bodyPr>
          <a:lstStyle/>
          <a:p>
            <a:pPr algn="l" marL="647700" indent="-323850" lvl="1">
              <a:lnSpc>
                <a:spcPts val="3600"/>
              </a:lnSpc>
              <a:buFont typeface="Arial"/>
              <a:buChar char="•"/>
            </a:pPr>
            <a:r>
              <a:rPr lang="en-US" sz="3000" i="true" spc="-9">
                <a:solidFill>
                  <a:srgbClr val="000000"/>
                </a:solidFill>
                <a:latin typeface="Times New Roman Italics"/>
                <a:ea typeface="Times New Roman Italics"/>
                <a:cs typeface="Times New Roman Italics"/>
                <a:sym typeface="Times New Roman Italics"/>
              </a:rPr>
              <a:t>G. Chauhan, S. Puri and R. Nahta, "Analysis of Government Flagship Programs using Public Feedbacks," 2023 2nd International Conference for Innovation in Technology (INOCON), Bangalore, India, 2023, pp. 1-7, </a:t>
            </a:r>
          </a:p>
          <a:p>
            <a:pPr algn="l">
              <a:lnSpc>
                <a:spcPts val="3600"/>
              </a:lnSpc>
            </a:pPr>
            <a:r>
              <a:rPr lang="en-US" sz="3000" i="true" spc="-9">
                <a:solidFill>
                  <a:srgbClr val="000000"/>
                </a:solidFill>
                <a:latin typeface="Times New Roman Italics"/>
                <a:ea typeface="Times New Roman Italics"/>
                <a:cs typeface="Times New Roman Italics"/>
                <a:sym typeface="Times New Roman Italics"/>
              </a:rPr>
              <a:t>       </a:t>
            </a:r>
            <a:r>
              <a:rPr lang="en-US" sz="3000" i="true" spc="-9" u="sng">
                <a:solidFill>
                  <a:srgbClr val="4F81BD"/>
                </a:solidFill>
                <a:latin typeface="Times New Roman Italics"/>
                <a:ea typeface="Times New Roman Italics"/>
                <a:cs typeface="Times New Roman Italics"/>
                <a:sym typeface="Times New Roman Italics"/>
              </a:rPr>
              <a:t>https://doi.org/10.1109/INOCON57975.2023.10101351</a:t>
            </a:r>
          </a:p>
          <a:p>
            <a:pPr algn="l">
              <a:lnSpc>
                <a:spcPts val="3600"/>
              </a:lnSpc>
            </a:pPr>
          </a:p>
          <a:p>
            <a:pPr algn="l" marL="647700" indent="-323850" lvl="1">
              <a:lnSpc>
                <a:spcPts val="3600"/>
              </a:lnSpc>
              <a:buFont typeface="Arial"/>
              <a:buChar char="•"/>
            </a:pPr>
            <a:r>
              <a:rPr lang="en-US" sz="3000" i="true" spc="-9">
                <a:solidFill>
                  <a:srgbClr val="000000"/>
                </a:solidFill>
                <a:latin typeface="Times New Roman Italics"/>
                <a:ea typeface="Times New Roman Italics"/>
                <a:cs typeface="Times New Roman Italics"/>
                <a:sym typeface="Times New Roman Italics"/>
              </a:rPr>
              <a:t>I. H. Hafidz, A. Sulistya and B. R. Lidiawaty, "Sentiment Analysis of Public Complaints: A Machine Learning Comparison of SVM, Naive Bayes, Random Forest, and XGBoost," 2025 International Conference on Advancement in Data Science, E-learning and Information System (ICADEIS), Bandung, Indonesia, 2025, pp. 1-6, </a:t>
            </a:r>
          </a:p>
          <a:p>
            <a:pPr algn="l">
              <a:lnSpc>
                <a:spcPts val="3600"/>
              </a:lnSpc>
            </a:pPr>
            <a:r>
              <a:rPr lang="en-US" sz="3000" i="true" spc="-9">
                <a:solidFill>
                  <a:srgbClr val="4F81BD"/>
                </a:solidFill>
                <a:latin typeface="Times New Roman Italics"/>
                <a:ea typeface="Times New Roman Italics"/>
                <a:cs typeface="Times New Roman Italics"/>
                <a:sym typeface="Times New Roman Italics"/>
              </a:rPr>
              <a:t>       </a:t>
            </a:r>
            <a:r>
              <a:rPr lang="en-US" sz="3000" i="true" spc="-9" u="sng">
                <a:solidFill>
                  <a:srgbClr val="4F81BD"/>
                </a:solidFill>
                <a:latin typeface="Times New Roman Italics"/>
                <a:ea typeface="Times New Roman Italics"/>
                <a:cs typeface="Times New Roman Italics"/>
                <a:sym typeface="Times New Roman Italics"/>
              </a:rPr>
              <a:t>https://doi.org/10.1109/ICADEIS65852.2025.10933382</a:t>
            </a:r>
          </a:p>
          <a:p>
            <a:pPr algn="l">
              <a:lnSpc>
                <a:spcPts val="3600"/>
              </a:lnSpc>
            </a:pPr>
          </a:p>
          <a:p>
            <a:pPr algn="l" marL="647700" indent="-323850" lvl="1">
              <a:lnSpc>
                <a:spcPts val="3600"/>
              </a:lnSpc>
              <a:buFont typeface="Arial"/>
              <a:buChar char="•"/>
            </a:pPr>
            <a:r>
              <a:rPr lang="en-US" sz="3000" i="true" spc="-9">
                <a:solidFill>
                  <a:srgbClr val="000000"/>
                </a:solidFill>
                <a:latin typeface="Times New Roman Italics"/>
                <a:ea typeface="Times New Roman Italics"/>
                <a:cs typeface="Times New Roman Italics"/>
                <a:sym typeface="Times New Roman Italics"/>
              </a:rPr>
              <a:t>C. Nagesh, B. Divyasree, K. Madhu, T. Allisha, S. Datta Koushlk and P. Naresh, "Enhancing E-Government through Sentiment Analysis: A Dual Approach Using Text and Facial Expression Recognition," 2024 International Conference on Science Technology Engineering and Management (ICSTEM), Coimbatore, India, 2024, pp. 1-6,</a:t>
            </a:r>
          </a:p>
          <a:p>
            <a:pPr algn="l">
              <a:lnSpc>
                <a:spcPts val="3600"/>
              </a:lnSpc>
            </a:pPr>
            <a:r>
              <a:rPr lang="en-US" sz="3000" i="true" spc="-9" u="none">
                <a:solidFill>
                  <a:srgbClr val="000000"/>
                </a:solidFill>
                <a:latin typeface="Times New Roman Italics"/>
                <a:ea typeface="Times New Roman Italics"/>
                <a:cs typeface="Times New Roman Italics"/>
                <a:sym typeface="Times New Roman Italics"/>
              </a:rPr>
              <a:t>       </a:t>
            </a:r>
            <a:r>
              <a:rPr lang="en-US" sz="3000" i="true" spc="-9" u="sng">
                <a:solidFill>
                  <a:srgbClr val="000000"/>
                </a:solidFill>
                <a:latin typeface="Times New Roman Italics"/>
                <a:ea typeface="Times New Roman Italics"/>
                <a:cs typeface="Times New Roman Italics"/>
                <a:sym typeface="Times New Roman Italics"/>
              </a:rPr>
              <a:t> </a:t>
            </a:r>
            <a:r>
              <a:rPr lang="en-US" sz="3000" i="true" spc="-9" u="sng">
                <a:solidFill>
                  <a:srgbClr val="4F81BD"/>
                </a:solidFill>
                <a:latin typeface="Times New Roman Italics"/>
                <a:ea typeface="Times New Roman Italics"/>
                <a:cs typeface="Times New Roman Italics"/>
                <a:sym typeface="Times New Roman Italics"/>
              </a:rPr>
              <a:t>https://doi.org/10.1109/ICSTEM61137.2024.10560678</a:t>
            </a:r>
          </a:p>
          <a:p>
            <a:pPr algn="l">
              <a:lnSpc>
                <a:spcPts val="3600"/>
              </a:lnSpc>
            </a:pPr>
          </a:p>
          <a:p>
            <a:pPr algn="l" marL="647700" indent="-323850" lvl="1">
              <a:lnSpc>
                <a:spcPts val="3600"/>
              </a:lnSpc>
              <a:buFont typeface="Arial"/>
              <a:buChar char="•"/>
            </a:pPr>
            <a:r>
              <a:rPr lang="en-US" sz="3000" i="true" spc="-9">
                <a:solidFill>
                  <a:srgbClr val="000000"/>
                </a:solidFill>
                <a:latin typeface="Times New Roman Italics"/>
                <a:ea typeface="Times New Roman Italics"/>
                <a:cs typeface="Times New Roman Italics"/>
                <a:sym typeface="Times New Roman Italics"/>
              </a:rPr>
              <a:t>G. A. Sandag, E. H. E. Soegiarto, L. Laoh, A. Gunawan and D. Sondakh, "Sentiment Analysis of Government Policy Regarding PPKM on Twitter Using LSTM," 2022 4th International Conference on Cybernetics and Intelligent System (ICORIS), Prapat, Indonesia, 2022, pp. 1-6,</a:t>
            </a:r>
          </a:p>
          <a:p>
            <a:pPr algn="l">
              <a:lnSpc>
                <a:spcPts val="3600"/>
              </a:lnSpc>
            </a:pPr>
            <a:r>
              <a:rPr lang="en-US" sz="3000" i="true" spc="-11" u="sng">
                <a:solidFill>
                  <a:srgbClr val="4F81BD"/>
                </a:solidFill>
                <a:latin typeface="Times New Roman Italics"/>
                <a:ea typeface="Times New Roman Italics"/>
                <a:cs typeface="Times New Roman Italics"/>
                <a:sym typeface="Times New Roman Italics"/>
              </a:rPr>
              <a:t>        https://doi.org/ 10.1109/ICORIS56080.2022.10031474.</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004735"/>
            <a:ext cx="18288000" cy="1282265"/>
            <a:chOff x="0" y="0"/>
            <a:chExt cx="24384000" cy="1709687"/>
          </a:xfrm>
        </p:grpSpPr>
        <p:sp>
          <p:nvSpPr>
            <p:cNvPr name="Freeform 3" id="3"/>
            <p:cNvSpPr/>
            <p:nvPr/>
          </p:nvSpPr>
          <p:spPr>
            <a:xfrm flipH="false" flipV="false" rot="0">
              <a:off x="0" y="0"/>
              <a:ext cx="24384000" cy="1709674"/>
            </a:xfrm>
            <a:custGeom>
              <a:avLst/>
              <a:gdLst/>
              <a:ahLst/>
              <a:cxnLst/>
              <a:rect r="r" b="b" t="t" l="l"/>
              <a:pathLst>
                <a:path h="1709674" w="24384000">
                  <a:moveTo>
                    <a:pt x="0" y="0"/>
                  </a:moveTo>
                  <a:lnTo>
                    <a:pt x="24384000" y="0"/>
                  </a:lnTo>
                  <a:lnTo>
                    <a:pt x="24384000" y="1709674"/>
                  </a:lnTo>
                  <a:lnTo>
                    <a:pt x="0" y="1709674"/>
                  </a:lnTo>
                  <a:lnTo>
                    <a:pt x="0" y="0"/>
                  </a:lnTo>
                  <a:close/>
                </a:path>
              </a:pathLst>
            </a:custGeom>
            <a:blipFill>
              <a:blip r:embed="rId2"/>
              <a:stretch>
                <a:fillRect l="0" t="-61304" r="0" b="-61305"/>
              </a:stretch>
            </a:blipFill>
          </p:spPr>
        </p:sp>
      </p:grpSp>
      <p:grpSp>
        <p:nvGrpSpPr>
          <p:cNvPr name="Group 4" id="4"/>
          <p:cNvGrpSpPr/>
          <p:nvPr/>
        </p:nvGrpSpPr>
        <p:grpSpPr>
          <a:xfrm rot="0">
            <a:off x="6124213" y="2161975"/>
            <a:ext cx="5839958" cy="5903204"/>
            <a:chOff x="0" y="0"/>
            <a:chExt cx="7786611" cy="7870939"/>
          </a:xfrm>
        </p:grpSpPr>
        <p:sp>
          <p:nvSpPr>
            <p:cNvPr name="Freeform 5" id="5"/>
            <p:cNvSpPr/>
            <p:nvPr/>
          </p:nvSpPr>
          <p:spPr>
            <a:xfrm flipH="false" flipV="false" rot="0">
              <a:off x="0" y="0"/>
              <a:ext cx="7786624" cy="7870952"/>
            </a:xfrm>
            <a:custGeom>
              <a:avLst/>
              <a:gdLst/>
              <a:ahLst/>
              <a:cxnLst/>
              <a:rect r="r" b="b" t="t" l="l"/>
              <a:pathLst>
                <a:path h="7870952" w="7786624">
                  <a:moveTo>
                    <a:pt x="0" y="0"/>
                  </a:moveTo>
                  <a:lnTo>
                    <a:pt x="7786624" y="0"/>
                  </a:lnTo>
                  <a:lnTo>
                    <a:pt x="7786624" y="7870952"/>
                  </a:lnTo>
                  <a:lnTo>
                    <a:pt x="0" y="7870952"/>
                  </a:lnTo>
                  <a:lnTo>
                    <a:pt x="0" y="0"/>
                  </a:lnTo>
                  <a:close/>
                </a:path>
              </a:pathLst>
            </a:custGeom>
            <a:blipFill>
              <a:blip r:embed="rId3"/>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DAHTmHK9pL0</dc:identifier>
  <dcterms:modified xsi:type="dcterms:W3CDTF">2011-08-01T06:04:30Z</dcterms:modified>
  <cp:revision>1</cp:revision>
  <dc:title>Mini project_review-1 (2).pptx.pptx</dc:title>
</cp:coreProperties>
</file>